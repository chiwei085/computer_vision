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18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media/image12.gif" ContentType="image/gif"/>
  <Override PartName="/ppt/media/image10.jpeg" ContentType="image/jpeg"/>
  <Override PartName="/ppt/media/image7.jpeg" ContentType="image/jpeg"/>
  <Override PartName="/ppt/media/image15.gif" ContentType="image/gif"/>
  <Override PartName="/ppt/media/image18.png" ContentType="image/png"/>
  <Override PartName="/ppt/media/image17.png" ContentType="image/png"/>
  <Override PartName="/ppt/media/image19.png" ContentType="image/png"/>
  <Override PartName="/ppt/media/image4.png" ContentType="image/png"/>
  <Override PartName="/ppt/media/image13.png" ContentType="image/png"/>
  <Override PartName="/ppt/media/image16.png" ContentType="image/png"/>
  <Override PartName="/ppt/media/image3.jpeg" ContentType="image/jpeg"/>
  <Override PartName="/ppt/media/image14.jpeg" ContentType="image/jpeg"/>
  <Override PartName="/ppt/media/image1.jpeg" ContentType="image/jpeg"/>
  <Override PartName="/ppt/media/image8.jpeg" ContentType="image/jpeg"/>
  <Override PartName="/ppt/media/image9.jpeg" ContentType="image/jpeg"/>
  <Override PartName="/ppt/media/image2.jpeg" ContentType="image/jpeg"/>
  <Override PartName="/ppt/media/image5.png" ContentType="image/png"/>
  <Override PartName="/ppt/media/image6.jpeg" ContentType="image/jpeg"/>
  <Override PartName="/ppt/media/image1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標題投影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TW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778BE6-1BA5-4585-AC8F-2C8A1D5D38E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矩形 6"/>
          <p:cNvSpPr/>
          <p:nvPr/>
        </p:nvSpPr>
        <p:spPr>
          <a:xfrm>
            <a:off x="0" y="0"/>
            <a:ext cx="12191760" cy="359640"/>
          </a:xfrm>
          <a:prstGeom prst="rect">
            <a:avLst/>
          </a:prstGeom>
          <a:solidFill>
            <a:srgbClr val="607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標題及直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DDE32B-BCDF-4A85-997E-05E28DC8BDA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直排標題及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6A9400-DD2F-465F-B3E5-54F28FC06C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標題及物件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9F4FE2-B084-47B0-AB17-29DEE352EE3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章節標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TW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79732B-160C-4CDA-9B0E-4411F321FD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兩項物件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2AB056-31BF-4D5E-B921-E4594C4D16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對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00825B-E00F-4D18-8115-241B240173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只有標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3B3D89-C7FA-4A3C-9B84-2C7983854B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D80C6A-FFC7-4A5E-B7A2-7C0A8D847FD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含標題的內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CDB016-EE3A-4019-9F99-7CB4ACDC49A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含標題的圖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CC09E3-B608-409F-98BD-951062D9C19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docs.opencv.org/master/df/d65/tutorial_table_of_content_introduction.html" TargetMode="External"/><Relationship Id="rId2" Type="http://schemas.openxmlformats.org/officeDocument/2006/relationships/hyperlink" Target="https://opencv.org/releases/" TargetMode="External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gif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gif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字方塊 6"/>
          <p:cNvSpPr/>
          <p:nvPr/>
        </p:nvSpPr>
        <p:spPr>
          <a:xfrm>
            <a:off x="2358360" y="2387520"/>
            <a:ext cx="75715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Computer Vision Homework #1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直線接點 8"/>
          <p:cNvCxnSpPr/>
          <p:nvPr/>
        </p:nvCxnSpPr>
        <p:spPr>
          <a:xfrm>
            <a:off x="2563920" y="3429000"/>
            <a:ext cx="7064280" cy="360"/>
          </a:xfrm>
          <a:prstGeom prst="straightConnector1">
            <a:avLst/>
          </a:prstGeom>
          <a:ln w="38100">
            <a:solidFill>
              <a:srgbClr val="6076b4"/>
            </a:solidFill>
          </a:ln>
        </p:spPr>
      </p:cxnSp>
      <p:sp>
        <p:nvSpPr>
          <p:cNvPr id="63" name="Title 1"/>
          <p:cNvSpPr/>
          <p:nvPr/>
        </p:nvSpPr>
        <p:spPr>
          <a:xfrm>
            <a:off x="7227360" y="4829760"/>
            <a:ext cx="3958560" cy="11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TA</a:t>
            </a: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：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Syahrul Munir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	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 (Moon)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Email</a:t>
            </a: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：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t111999406@ntut.org.tw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Robot Vision Lab (Room 1421)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2" descr="C:\Users\Jeremy\Desktop\RVL logo\RVL01.jpg"/>
          <p:cNvPicPr/>
          <p:nvPr/>
        </p:nvPicPr>
        <p:blipFill>
          <a:blip r:embed="rId1"/>
          <a:stretch/>
        </p:blipFill>
        <p:spPr>
          <a:xfrm>
            <a:off x="35640" y="5229360"/>
            <a:ext cx="2824200" cy="1580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ontent Placeholder 3"/>
          <p:cNvSpPr/>
          <p:nvPr/>
        </p:nvSpPr>
        <p:spPr>
          <a:xfrm>
            <a:off x="457200" y="1600200"/>
            <a:ext cx="822924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微軟正黑體"/>
              </a:rPr>
              <a:t>2026/03/09 – Homework 1 assigned, due 03/23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lt2">
                    <a:lumMod val="76000"/>
                  </a:schemeClr>
                </a:solidFill>
                <a:effectLst/>
                <a:uFillTx/>
                <a:latin typeface="Arial"/>
                <a:ea typeface="微軟正黑體"/>
              </a:rPr>
              <a:t>2026/03/30 – Homework 2 assigned, due 04/13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微軟正黑體"/>
              </a:rPr>
              <a:t>2026/04/27 – Homework 3 assigned, due 05/11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微軟正黑體"/>
              </a:rPr>
              <a:t>2026/05/25 – Homework 4 assigned, due 06/08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標題 1"/>
          <p:cNvSpPr/>
          <p:nvPr/>
        </p:nvSpPr>
        <p:spPr>
          <a:xfrm>
            <a:off x="457200" y="533520"/>
            <a:ext cx="8229240" cy="8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4000" spc="-99" strike="noStrike" u="none">
                <a:solidFill>
                  <a:srgbClr val="2f5897"/>
                </a:solidFill>
                <a:effectLst/>
                <a:uFillTx/>
                <a:latin typeface="Arial"/>
                <a:ea typeface="微軟正黑體"/>
              </a:rPr>
              <a:t>Homework Assignment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3"/>
          <p:cNvSpPr/>
          <p:nvPr/>
        </p:nvSpPr>
        <p:spPr>
          <a:xfrm>
            <a:off x="457200" y="1600200"/>
            <a:ext cx="1145556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82880" indent="-182880" defTabSz="914400">
              <a:lnSpc>
                <a:spcPct val="100000"/>
              </a:lnSpc>
              <a:spcBef>
                <a:spcPts val="561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1" lang="en-US" sz="2800" strike="noStrike" u="sng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</a:rPr>
              <a:t>Target: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algn="just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Courier New"/>
              <a:buChar char="o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Write the </a:t>
            </a:r>
            <a:r>
              <a:rPr b="0" lang="en-US" sz="2400" strike="noStrike" u="none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</a:rPr>
              <a:t>main functions by yourself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 to understand the theories of computer vision deeply.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algn="just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Courier New"/>
              <a:buChar char="o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Improve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 your skills about using </a:t>
            </a:r>
            <a:r>
              <a:rPr b="0" lang="en-US" sz="2400" strike="noStrike" u="none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</a:rPr>
              <a:t>C/C++/Python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algn="just" defTabSz="914400">
              <a:lnSpc>
                <a:spcPct val="100000"/>
              </a:lnSpc>
              <a:spcBef>
                <a:spcPts val="561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1" lang="en-US" sz="2800" strike="noStrike" u="sng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</a:rPr>
              <a:t>Rules: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algn="just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Courier New"/>
              <a:buChar char="o"/>
            </a:pPr>
            <a:r>
              <a:rPr b="0" lang="en-US" sz="2400" strike="noStrike" u="none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</a:rPr>
              <a:t>Cannot directly use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 the function of OpenCV Lib or others to do the </a:t>
            </a:r>
            <a:r>
              <a:rPr b="0" lang="en-US" sz="2400" strike="noStrike" u="none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</a:rPr>
              <a:t>main part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 of homework.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algn="just" defTabSz="914400">
              <a:lnSpc>
                <a:spcPct val="100000"/>
              </a:lnSpc>
              <a:spcBef>
                <a:spcPts val="400"/>
              </a:spcBef>
              <a:buClr>
                <a:srgbClr val="5b9bd5"/>
              </a:buClr>
              <a:buSzPct val="90000"/>
              <a:buFont typeface="Courier New"/>
              <a:buChar char="o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Example: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algn="just" defTabSz="914400">
              <a:lnSpc>
                <a:spcPct val="100000"/>
              </a:lnSpc>
              <a:spcBef>
                <a:spcPts val="320"/>
              </a:spcBef>
              <a:buClr>
                <a:srgbClr val="5b9bd5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cvtColor(image, gray, CV_RGB2GRAY) </a:t>
            </a:r>
            <a:r>
              <a:rPr b="0" lang="en-US" sz="1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微軟正黑體"/>
              </a:rPr>
              <a:t>//convert RGB to Gray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algn="just" defTabSz="914400">
              <a:lnSpc>
                <a:spcPct val="100000"/>
              </a:lnSpc>
              <a:spcBef>
                <a:spcPts val="320"/>
              </a:spcBef>
              <a:buClr>
                <a:srgbClr val="5b9bd5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cv2.copyMakeBorder(image, pad, pad, pad, pad, cv2.BORDER_REPLICATE) </a:t>
            </a:r>
            <a:r>
              <a:rPr b="0" lang="en-US" sz="1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Calibri"/>
              </a:rPr>
              <a:t>//give a padding to an image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05840" indent="-182880" algn="just" defTabSz="914400">
              <a:lnSpc>
                <a:spcPct val="100000"/>
              </a:lnSpc>
              <a:spcBef>
                <a:spcPts val="320"/>
              </a:spcBef>
              <a:buClr>
                <a:srgbClr val="5b9bd5"/>
              </a:buClr>
              <a:buFont typeface="Arial"/>
              <a:buChar char="•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numpy.convolve() </a:t>
            </a:r>
            <a:r>
              <a:rPr b="0" lang="en-US" sz="1600" strike="noStrike" u="none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</a:rPr>
              <a:t>or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 cv2.filter2D() </a:t>
            </a:r>
            <a:r>
              <a:rPr b="0" lang="en-US" sz="1600" strike="noStrike" u="none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</a:rPr>
              <a:t>or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 from scipy.signal import convolve2d </a:t>
            </a:r>
            <a:r>
              <a:rPr b="0" lang="en-US" sz="1600" strike="noStrike" u="none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</a:rPr>
              <a:t>or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 etc </a:t>
            </a:r>
            <a:r>
              <a:rPr b="0" lang="en-US" sz="1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微軟正黑體"/>
              </a:rPr>
              <a:t>//directly do a convolution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algn="just" defTabSz="914400">
              <a:lnSpc>
                <a:spcPct val="100000"/>
              </a:lnSpc>
              <a:spcBef>
                <a:spcPts val="400"/>
              </a:spcBef>
              <a:buClr>
                <a:srgbClr val="5b9bd5"/>
              </a:buClr>
              <a:buSzPct val="85000"/>
              <a:buFont typeface="Courier New"/>
              <a:buChar char="o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Can only use the basic function, such as load and save images, find the shape of images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400"/>
              </a:spcBef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標題 1"/>
          <p:cNvSpPr/>
          <p:nvPr/>
        </p:nvSpPr>
        <p:spPr>
          <a:xfrm>
            <a:off x="457200" y="533520"/>
            <a:ext cx="8229240" cy="8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4000" spc="-99" strike="noStrike" u="none">
                <a:solidFill>
                  <a:srgbClr val="2f5897"/>
                </a:solidFill>
                <a:effectLst/>
                <a:uFillTx/>
                <a:latin typeface="Arial"/>
                <a:ea typeface="微軟正黑體"/>
              </a:rPr>
              <a:t>Homework Assignment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ontent Placeholder 3"/>
          <p:cNvSpPr/>
          <p:nvPr/>
        </p:nvSpPr>
        <p:spPr>
          <a:xfrm>
            <a:off x="457200" y="1600200"/>
            <a:ext cx="1145556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OpenCV (Open Source Computer Vision Library) is a popular and widely used open-source library that provides tools for real-time computer vision applications.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Supports a wide range of image and video processing tasks, from basic operations like reading and manipulating images to advanced techniques like object detection and facial recognition.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It has C++, Python, Java and MATLAB interfaces and supports Windows, Linux, Android and Mac OS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How to install 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sng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  <a:hlinkClick r:id="rId1"/>
              </a:rPr>
              <a:t>https://docs.opencv.org/master/df/d65/tutorial_table_of_content_introduction.html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With C++ : </a:t>
            </a:r>
            <a:r>
              <a:rPr b="0" lang="en-US" sz="2400" strike="noStrike" u="sng">
                <a:solidFill>
                  <a:schemeClr val="accent2">
                    <a:lumMod val="76000"/>
                  </a:schemeClr>
                </a:solidFill>
                <a:effectLst/>
                <a:uFillTx/>
                <a:latin typeface="Times New Roman"/>
                <a:ea typeface="微軟正黑體"/>
                <a:hlinkClick r:id="rId2"/>
              </a:rPr>
              <a:t>https://opencv.org/releases/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(download)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With Python :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pip install opencv-python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標題 1"/>
          <p:cNvSpPr/>
          <p:nvPr/>
        </p:nvSpPr>
        <p:spPr>
          <a:xfrm>
            <a:off x="457200" y="533520"/>
            <a:ext cx="8229240" cy="8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400" spc="-99" strike="noStrike" u="none">
                <a:solidFill>
                  <a:srgbClr val="2f5897"/>
                </a:solidFill>
                <a:effectLst/>
                <a:uFillTx/>
                <a:latin typeface="Times New Roman"/>
                <a:ea typeface="微軟正黑體"/>
              </a:rPr>
              <a:t>OpenCV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ontent Placeholder 3"/>
          <p:cNvSpPr/>
          <p:nvPr/>
        </p:nvSpPr>
        <p:spPr>
          <a:xfrm>
            <a:off x="457200" y="1600200"/>
            <a:ext cx="1145556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Import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Library: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import numpy as np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import cv2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Read an image: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img = cv2.imread('image.png’)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Check image size: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height, width, channels = img.shape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Show image: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cv2.imshow('My Image', img)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cv2.waitKey(0)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cv2.destroyAllWindows()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Write image: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cv2.imwrite('output.png', img)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標題 1"/>
          <p:cNvSpPr/>
          <p:nvPr/>
        </p:nvSpPr>
        <p:spPr>
          <a:xfrm>
            <a:off x="457200" y="533520"/>
            <a:ext cx="8229240" cy="8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400" spc="-99" strike="noStrike" u="none">
                <a:solidFill>
                  <a:srgbClr val="2f5897"/>
                </a:solidFill>
                <a:effectLst/>
                <a:uFillTx/>
                <a:latin typeface="Times New Roman"/>
                <a:ea typeface="微軟正黑體"/>
              </a:rPr>
              <a:t>OpenCV (in Python)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2" descr="A white archway with blue roofs&#10;&#10;Description automatically generated"/>
          <p:cNvPicPr/>
          <p:nvPr/>
        </p:nvPicPr>
        <p:blipFill>
          <a:blip r:embed="rId1"/>
          <a:stretch/>
        </p:blipFill>
        <p:spPr>
          <a:xfrm>
            <a:off x="6008400" y="2031480"/>
            <a:ext cx="4974120" cy="332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ontent Placeholder 3"/>
          <p:cNvSpPr/>
          <p:nvPr/>
        </p:nvSpPr>
        <p:spPr>
          <a:xfrm>
            <a:off x="457200" y="1600200"/>
            <a:ext cx="1145556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Example for get each pixel value: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Create new mat: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rgb_mat = np.zeros((height, width, 3), np.uint8)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gray_mat = np.zeros((height, width, 1), np.uint8)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標題 1"/>
          <p:cNvSpPr/>
          <p:nvPr/>
        </p:nvSpPr>
        <p:spPr>
          <a:xfrm>
            <a:off x="457200" y="533520"/>
            <a:ext cx="8229240" cy="8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400" spc="-99" strike="noStrike" u="none">
                <a:solidFill>
                  <a:srgbClr val="2f5897"/>
                </a:solidFill>
                <a:effectLst/>
                <a:uFillTx/>
                <a:latin typeface="Times New Roman"/>
                <a:ea typeface="微軟正黑體"/>
              </a:rPr>
              <a:t>OpenCV (in Python)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2" descr="A computer code with white text&#10;&#10;Description automatically generated"/>
          <p:cNvPicPr/>
          <p:nvPr/>
        </p:nvPicPr>
        <p:blipFill>
          <a:blip r:embed="rId1"/>
          <a:stretch/>
        </p:blipFill>
        <p:spPr>
          <a:xfrm>
            <a:off x="754200" y="2072880"/>
            <a:ext cx="6762240" cy="1875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字方塊 2"/>
          <p:cNvSpPr/>
          <p:nvPr/>
        </p:nvSpPr>
        <p:spPr>
          <a:xfrm>
            <a:off x="390240" y="412920"/>
            <a:ext cx="24278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新細明體"/>
              </a:rPr>
              <a:t>Homework 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文字方塊 3"/>
          <p:cNvSpPr/>
          <p:nvPr/>
        </p:nvSpPr>
        <p:spPr>
          <a:xfrm>
            <a:off x="390240" y="882000"/>
            <a:ext cx="11532960" cy="57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Give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an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image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 (CKS.png) for testing as follow: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Color Transformation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: Read a RGB image and write a function to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convert the image to grayscale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image. </a:t>
            </a:r>
            <a:r>
              <a:rPr b="0" lang="en-US" sz="1800" strike="noStrike" u="none">
                <a:solidFill>
                  <a:schemeClr val="accent1">
                    <a:lumMod val="76000"/>
                  </a:schemeClr>
                </a:solidFill>
                <a:effectLst/>
                <a:uFillTx/>
                <a:latin typeface="Times New Roman"/>
                <a:ea typeface="新細明體"/>
              </a:rPr>
              <a:t>(save as</a:t>
            </a:r>
            <a:r>
              <a:rPr b="0" lang="en-US" sz="1800" strike="noStrike" u="none">
                <a:solidFill>
                  <a:schemeClr val="accent1">
                    <a:lumMod val="76000"/>
                  </a:schemeClr>
                </a:solidFill>
                <a:effectLst/>
                <a:uFillTx/>
                <a:latin typeface="Times New Roman"/>
                <a:ea typeface="新細明體"/>
              </a:rPr>
              <a:t> CKS _Q1.png)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Image Quantization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: Reduce the number of intensity levels in a grayscale image.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Take the original 256 levels (0-255) and map them to only 4 levels (31, 95, 159, 223)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.</a:t>
            </a:r>
            <a:r>
              <a:rPr b="0" lang="en-US" sz="1800" strike="noStrike" u="none">
                <a:solidFill>
                  <a:schemeClr val="accent4">
                    <a:lumMod val="76000"/>
                  </a:schemeClr>
                </a:solidFill>
                <a:effectLst/>
                <a:uFillTx/>
                <a:latin typeface="Times New Roman"/>
                <a:ea typeface="新細明體"/>
              </a:rPr>
              <a:t> </a:t>
            </a:r>
            <a:r>
              <a:rPr b="0" lang="en-US" sz="1800" strike="noStrike" u="none">
                <a:solidFill>
                  <a:schemeClr val="accent1">
                    <a:lumMod val="76000"/>
                  </a:schemeClr>
                </a:solidFill>
                <a:effectLst/>
                <a:uFillTx/>
                <a:latin typeface="Times New Roman"/>
                <a:ea typeface="新細明體"/>
              </a:rPr>
              <a:t>(save as CKS _Q2.png)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Convolution Operation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: Using the grayscale/Q1 image, Implement a convolution 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with 3×3 Box Blur (Average Filter) with padding and stride 1. 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(</a:t>
            </a:r>
            <a:r>
              <a:rPr b="0" lang="en-US" sz="1800" strike="noStrike" u="none">
                <a:solidFill>
                  <a:schemeClr val="accent1">
                    <a:lumMod val="76000"/>
                  </a:schemeClr>
                </a:solidFill>
                <a:effectLst/>
                <a:uFillTx/>
                <a:latin typeface="Times New Roman"/>
                <a:ea typeface="新細明體"/>
              </a:rPr>
              <a:t>save as CKS _Q3.png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Image Downsampling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: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lphaLcPeriod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Using the grayscale/Q1 image, implement convolution with 2x2 kernel below using stride 2. (</a:t>
            </a:r>
            <a:r>
              <a:rPr b="0" lang="en-US" sz="1800" strike="noStrike" u="none">
                <a:solidFill>
                  <a:schemeClr val="accent1">
                    <a:lumMod val="76000"/>
                  </a:schemeClr>
                </a:solidFill>
                <a:effectLst/>
                <a:uFillTx/>
                <a:latin typeface="Times New Roman"/>
                <a:ea typeface="新細明體"/>
              </a:rPr>
              <a:t>save as CKS _Q4a.png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lphaLcPeriod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Using the blur/Q3 image, implement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convolution witha 2x2 kernel below using stride 2. (</a:t>
            </a:r>
            <a:r>
              <a:rPr b="0" lang="en-US" sz="1800" strike="noStrike" u="none">
                <a:solidFill>
                  <a:schemeClr val="accent1">
                    <a:lumMod val="76000"/>
                  </a:schemeClr>
                </a:solidFill>
                <a:effectLst/>
                <a:uFillTx/>
                <a:latin typeface="Times New Roman"/>
                <a:ea typeface="新細明體"/>
              </a:rPr>
              <a:t>save as CKS _Q4b.png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i="1" lang="en-US" sz="1400" strike="noStrike" u="sng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※ There are totally 5 PNG images in your report.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8229600" y="3429000"/>
            <a:ext cx="3206520" cy="7304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D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4572000" y="5943600"/>
            <a:ext cx="3043800" cy="554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ID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1" descr="A white archway with blue roofs&#10;&#10;Description automatically generated"/>
          <p:cNvPicPr/>
          <p:nvPr/>
        </p:nvPicPr>
        <p:blipFill>
          <a:blip r:embed="rId3"/>
          <a:stretch/>
        </p:blipFill>
        <p:spPr>
          <a:xfrm>
            <a:off x="6850440" y="484920"/>
            <a:ext cx="1535040" cy="102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字方塊 2"/>
          <p:cNvSpPr/>
          <p:nvPr/>
        </p:nvSpPr>
        <p:spPr>
          <a:xfrm>
            <a:off x="414720" y="873720"/>
            <a:ext cx="37983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新細明體"/>
              </a:rPr>
              <a:t>Homework 1 Flow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矩形 6"/>
          <p:cNvSpPr/>
          <p:nvPr/>
        </p:nvSpPr>
        <p:spPr>
          <a:xfrm>
            <a:off x="3045960" y="2660760"/>
            <a:ext cx="852120" cy="585000"/>
          </a:xfrm>
          <a:prstGeom prst="rect">
            <a:avLst/>
          </a:prstGeom>
          <a:solidFill>
            <a:srgbClr val="5b9bd5"/>
          </a:solidFill>
          <a:ln>
            <a:solidFill>
              <a:srgbClr val="e7e6e6">
                <a:lumMod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Q1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矩形 7"/>
          <p:cNvSpPr/>
          <p:nvPr/>
        </p:nvSpPr>
        <p:spPr>
          <a:xfrm>
            <a:off x="5494320" y="2654640"/>
            <a:ext cx="852120" cy="591120"/>
          </a:xfrm>
          <a:prstGeom prst="rect">
            <a:avLst/>
          </a:prstGeom>
          <a:solidFill>
            <a:srgbClr val="5b9bd5"/>
          </a:solidFill>
          <a:ln>
            <a:solidFill>
              <a:srgbClr val="e7e6e6">
                <a:lumMod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Q2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矩形 8"/>
          <p:cNvSpPr/>
          <p:nvPr/>
        </p:nvSpPr>
        <p:spPr>
          <a:xfrm>
            <a:off x="5493240" y="3935160"/>
            <a:ext cx="852120" cy="591120"/>
          </a:xfrm>
          <a:prstGeom prst="rect">
            <a:avLst/>
          </a:prstGeom>
          <a:solidFill>
            <a:srgbClr val="5b9bd5"/>
          </a:solidFill>
          <a:ln>
            <a:solidFill>
              <a:srgbClr val="e7e6e6">
                <a:lumMod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  <a:ea typeface="微軟正黑體"/>
              </a:rPr>
              <a:t>Q3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矩形 9"/>
          <p:cNvSpPr/>
          <p:nvPr/>
        </p:nvSpPr>
        <p:spPr>
          <a:xfrm>
            <a:off x="8024040" y="3930480"/>
            <a:ext cx="1066320" cy="597240"/>
          </a:xfrm>
          <a:prstGeom prst="rect">
            <a:avLst/>
          </a:prstGeom>
          <a:solidFill>
            <a:srgbClr val="5b9bd5"/>
          </a:solidFill>
          <a:ln>
            <a:solidFill>
              <a:srgbClr val="e7e6e6">
                <a:lumMod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Q4a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直線單箭頭接點 12"/>
          <p:cNvCxnSpPr/>
          <p:nvPr/>
        </p:nvCxnSpPr>
        <p:spPr>
          <a:xfrm>
            <a:off x="2729160" y="2952720"/>
            <a:ext cx="310680" cy="10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88" name="文字方塊 14"/>
          <p:cNvSpPr/>
          <p:nvPr/>
        </p:nvSpPr>
        <p:spPr>
          <a:xfrm>
            <a:off x="1734120" y="2688480"/>
            <a:ext cx="10450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Input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CKS.png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直線單箭頭接點 15"/>
          <p:cNvCxnSpPr/>
          <p:nvPr/>
        </p:nvCxnSpPr>
        <p:spPr>
          <a:xfrm>
            <a:off x="3902760" y="2952720"/>
            <a:ext cx="310680" cy="10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90" name="文字方塊 16"/>
          <p:cNvSpPr/>
          <p:nvPr/>
        </p:nvSpPr>
        <p:spPr>
          <a:xfrm>
            <a:off x="4169160" y="2752920"/>
            <a:ext cx="11091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Output1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CKS_Q1.png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直線單箭頭接點 17"/>
          <p:cNvCxnSpPr/>
          <p:nvPr/>
        </p:nvCxnSpPr>
        <p:spPr>
          <a:xfrm>
            <a:off x="5183640" y="2952720"/>
            <a:ext cx="310680" cy="10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92" name="直線單箭頭接點 18"/>
          <p:cNvCxnSpPr/>
          <p:nvPr/>
        </p:nvCxnSpPr>
        <p:spPr>
          <a:xfrm>
            <a:off x="6347160" y="2952720"/>
            <a:ext cx="310680" cy="10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93" name="文字方塊 19"/>
          <p:cNvSpPr/>
          <p:nvPr/>
        </p:nvSpPr>
        <p:spPr>
          <a:xfrm>
            <a:off x="6608520" y="2746440"/>
            <a:ext cx="11091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Output2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CKS_Q2.png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直線單箭頭接點 20"/>
          <p:cNvCxnSpPr>
            <a:stCxn id="90" idx="2"/>
          </p:cNvCxnSpPr>
          <p:nvPr/>
        </p:nvCxnSpPr>
        <p:spPr>
          <a:xfrm flipH="1" rot="16200000">
            <a:off x="4663440" y="3397680"/>
            <a:ext cx="893880" cy="772920"/>
          </a:xfrm>
          <a:prstGeom prst="bentConnector3">
            <a:avLst>
              <a:gd name="adj1" fmla="val 100161"/>
            </a:avLst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95" name="直線單箭頭接點 21"/>
          <p:cNvCxnSpPr/>
          <p:nvPr/>
        </p:nvCxnSpPr>
        <p:spPr>
          <a:xfrm>
            <a:off x="6345720" y="4229280"/>
            <a:ext cx="310680" cy="10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96" name="文字方塊 22"/>
          <p:cNvSpPr/>
          <p:nvPr/>
        </p:nvSpPr>
        <p:spPr>
          <a:xfrm>
            <a:off x="6630480" y="4029480"/>
            <a:ext cx="11091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Output3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CKS_Q3.png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直線單箭頭接點 23"/>
          <p:cNvCxnSpPr/>
          <p:nvPr/>
        </p:nvCxnSpPr>
        <p:spPr>
          <a:xfrm>
            <a:off x="7718040" y="4228560"/>
            <a:ext cx="311040" cy="10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98" name="直線單箭頭接點 24"/>
          <p:cNvCxnSpPr/>
          <p:nvPr/>
        </p:nvCxnSpPr>
        <p:spPr>
          <a:xfrm>
            <a:off x="9064080" y="4227480"/>
            <a:ext cx="310680" cy="14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99" name="文字方塊 25"/>
          <p:cNvSpPr/>
          <p:nvPr/>
        </p:nvSpPr>
        <p:spPr>
          <a:xfrm>
            <a:off x="9374400" y="4029480"/>
            <a:ext cx="12373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Output4a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CKS_Q4a.png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矩形 9"/>
          <p:cNvSpPr/>
          <p:nvPr/>
        </p:nvSpPr>
        <p:spPr>
          <a:xfrm>
            <a:off x="6461280" y="5226480"/>
            <a:ext cx="1066320" cy="597240"/>
          </a:xfrm>
          <a:prstGeom prst="rect">
            <a:avLst/>
          </a:prstGeom>
          <a:solidFill>
            <a:srgbClr val="5b9bd5"/>
          </a:solidFill>
          <a:ln>
            <a:solidFill>
              <a:srgbClr val="e7e6e6">
                <a:lumMod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Q4b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直線單箭頭接點 24"/>
          <p:cNvCxnSpPr/>
          <p:nvPr/>
        </p:nvCxnSpPr>
        <p:spPr>
          <a:xfrm>
            <a:off x="7501320" y="5523480"/>
            <a:ext cx="310680" cy="108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102" name="文字方塊 25"/>
          <p:cNvSpPr/>
          <p:nvPr/>
        </p:nvSpPr>
        <p:spPr>
          <a:xfrm>
            <a:off x="7812000" y="5325480"/>
            <a:ext cx="12520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Output4b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CKS_Q4b.png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直線單箭頭接點 12"/>
          <p:cNvCxnSpPr>
            <a:stCxn id="90" idx="2"/>
            <a:endCxn id="100" idx="1"/>
          </p:cNvCxnSpPr>
          <p:nvPr/>
        </p:nvCxnSpPr>
        <p:spPr>
          <a:xfrm flipH="1" rot="16200000">
            <a:off x="4498560" y="3562560"/>
            <a:ext cx="2188440" cy="1737720"/>
          </a:xfrm>
          <a:prstGeom prst="bentConnector2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pic>
        <p:nvPicPr>
          <p:cNvPr id="104" name="Picture 3" descr="A white archway with blue roofs&#10;&#10;Description automatically generated"/>
          <p:cNvPicPr/>
          <p:nvPr/>
        </p:nvPicPr>
        <p:blipFill>
          <a:blip r:embed="rId1"/>
          <a:stretch/>
        </p:blipFill>
        <p:spPr>
          <a:xfrm>
            <a:off x="1734120" y="1976040"/>
            <a:ext cx="1013040" cy="67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25" descr=""/>
          <p:cNvPicPr/>
          <p:nvPr/>
        </p:nvPicPr>
        <p:blipFill>
          <a:blip r:embed="rId2"/>
          <a:stretch/>
        </p:blipFill>
        <p:spPr>
          <a:xfrm>
            <a:off x="4265280" y="1977480"/>
            <a:ext cx="1013040" cy="67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27" descr=""/>
          <p:cNvPicPr/>
          <p:nvPr/>
        </p:nvPicPr>
        <p:blipFill>
          <a:blip r:embed="rId3"/>
          <a:stretch/>
        </p:blipFill>
        <p:spPr>
          <a:xfrm>
            <a:off x="6680880" y="1980360"/>
            <a:ext cx="1008360" cy="67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29" descr=""/>
          <p:cNvPicPr/>
          <p:nvPr/>
        </p:nvPicPr>
        <p:blipFill>
          <a:blip r:embed="rId4"/>
          <a:stretch/>
        </p:blipFill>
        <p:spPr>
          <a:xfrm>
            <a:off x="6660000" y="3399480"/>
            <a:ext cx="1029240" cy="68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31" descr=""/>
          <p:cNvPicPr/>
          <p:nvPr/>
        </p:nvPicPr>
        <p:blipFill>
          <a:blip r:embed="rId5"/>
          <a:stretch/>
        </p:blipFill>
        <p:spPr>
          <a:xfrm>
            <a:off x="9438840" y="3400560"/>
            <a:ext cx="10292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33" descr=""/>
          <p:cNvPicPr/>
          <p:nvPr/>
        </p:nvPicPr>
        <p:blipFill>
          <a:blip r:embed="rId6"/>
          <a:stretch/>
        </p:blipFill>
        <p:spPr>
          <a:xfrm>
            <a:off x="7917840" y="5910480"/>
            <a:ext cx="1040040" cy="69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/>
          <p:nvPr/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000" spc="-99" strike="noStrike" u="none">
                <a:solidFill>
                  <a:schemeClr val="dk2"/>
                </a:solidFill>
                <a:effectLst/>
                <a:uFillTx/>
                <a:latin typeface="Times New Roman"/>
              </a:rPr>
              <a:t>Color Transformation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4"/>
          <p:cNvSpPr/>
          <p:nvPr/>
        </p:nvSpPr>
        <p:spPr>
          <a:xfrm>
            <a:off x="457200" y="1586880"/>
            <a:ext cx="7536960" cy="334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Digital color images are 3D matrices (W×H×3) where each pixel contains a triplet of Red, Green, and Blue intensities ranging from 0 to 255.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Grayscale conversion reduces data complexity from three channels to a single Luminance channel (Y), representing the scene's brightness at each coordinate.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6" descr="RGB to grayscale — skimage 0.24.0 documentation"/>
          <p:cNvPicPr/>
          <p:nvPr/>
        </p:nvPicPr>
        <p:blipFill>
          <a:blip r:embed="rId1"/>
          <a:stretch/>
        </p:blipFill>
        <p:spPr>
          <a:xfrm>
            <a:off x="7840440" y="2417040"/>
            <a:ext cx="4048200" cy="202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/>
          <p:nvPr/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000" spc="-99" strike="noStrike" u="none">
                <a:solidFill>
                  <a:schemeClr val="dk2"/>
                </a:solidFill>
                <a:effectLst/>
                <a:uFillTx/>
                <a:latin typeface="Times New Roman"/>
              </a:rPr>
              <a:t>Image Quantization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ontent Placeholder 2"/>
          <p:cNvSpPr/>
          <p:nvPr/>
        </p:nvSpPr>
        <p:spPr>
          <a:xfrm>
            <a:off x="457200" y="1600200"/>
            <a:ext cx="11032200" cy="34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182880" indent="-182880" algn="just" defTabSz="914400">
              <a:lnSpc>
                <a:spcPct val="100000"/>
              </a:lnSpc>
              <a:spcBef>
                <a:spcPts val="400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Quantization is the process of mapping a continuous range of intensity values (e.g., 0–255) into a smaller, discrete set of levels.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algn="just" defTabSz="914400">
              <a:lnSpc>
                <a:spcPct val="100000"/>
              </a:lnSpc>
              <a:spcBef>
                <a:spcPts val="360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Example for 4 level quantization: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algn="just" defTabSz="914400">
              <a:lnSpc>
                <a:spcPct val="100000"/>
              </a:lnSpc>
              <a:spcBef>
                <a:spcPts val="320"/>
              </a:spcBef>
              <a:buClr>
                <a:srgbClr val="5b9bd5"/>
              </a:buClr>
              <a:buSzPct val="9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For pixel value at 0-63, change it into the middle value (31).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algn="just" defTabSz="914400">
              <a:lnSpc>
                <a:spcPct val="100000"/>
              </a:lnSpc>
              <a:spcBef>
                <a:spcPts val="320"/>
              </a:spcBef>
              <a:buClr>
                <a:srgbClr val="5b9bd5"/>
              </a:buClr>
              <a:buSzPct val="9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For pixel value at 64-127, change it into the middle value (95).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algn="just" defTabSz="914400">
              <a:lnSpc>
                <a:spcPct val="100000"/>
              </a:lnSpc>
              <a:spcBef>
                <a:spcPts val="320"/>
              </a:spcBef>
              <a:buClr>
                <a:srgbClr val="5b9bd5"/>
              </a:buClr>
              <a:buSzPct val="9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For pixel value at 128-191, change it into the middle value (159).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31520" indent="-182880" algn="just" defTabSz="914400">
              <a:lnSpc>
                <a:spcPct val="100000"/>
              </a:lnSpc>
              <a:spcBef>
                <a:spcPts val="320"/>
              </a:spcBef>
              <a:buClr>
                <a:srgbClr val="5b9bd5"/>
              </a:buClr>
              <a:buSzPct val="90000"/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For pixel value at 192-255, change it into the middle value (223).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algn="just" defTabSz="914400">
              <a:lnSpc>
                <a:spcPct val="100000"/>
              </a:lnSpc>
              <a:spcBef>
                <a:spcPts val="400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This process determines the intensity resolution of a digital snapshot by defining how many bits are used to represent each pixel's brightness.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algn="just" defTabSz="914400">
              <a:lnSpc>
                <a:spcPct val="100000"/>
              </a:lnSpc>
              <a:spcBef>
                <a:spcPts val="400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This technique is fundamental for image compression and reducing storage requirements, as using fewer levels decreases the amount of data needed to represent the image.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20"/>
              </a:spcBef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2" descr="Sampling &amp; Quantization in Digital Image Processing | by Wimarshika Thamali  | Medium"/>
          <p:cNvPicPr/>
          <p:nvPr/>
        </p:nvPicPr>
        <p:blipFill>
          <a:blip r:embed="rId1"/>
          <a:stretch/>
        </p:blipFill>
        <p:spPr>
          <a:xfrm>
            <a:off x="3759120" y="4940640"/>
            <a:ext cx="4266720" cy="146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/>
          <p:nvPr/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000" spc="-99" strike="noStrike" u="none">
                <a:solidFill>
                  <a:schemeClr val="dk2"/>
                </a:solidFill>
                <a:effectLst/>
                <a:uFillTx/>
                <a:latin typeface="Times New Roman"/>
              </a:rPr>
              <a:t>Convolution Operation 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Picture 2" descr=""/>
          <p:cNvPicPr/>
          <p:nvPr/>
        </p:nvPicPr>
        <p:blipFill>
          <a:blip r:embed="rId1"/>
          <a:stretch/>
        </p:blipFill>
        <p:spPr>
          <a:xfrm>
            <a:off x="8043480" y="835920"/>
            <a:ext cx="3300480" cy="542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3" descr=""/>
          <p:cNvPicPr/>
          <p:nvPr/>
        </p:nvPicPr>
        <p:blipFill>
          <a:blip r:embed="rId2"/>
          <a:stretch/>
        </p:blipFill>
        <p:spPr>
          <a:xfrm>
            <a:off x="2068560" y="2849760"/>
            <a:ext cx="4419360" cy="340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Content Placeholder 2"/>
          <p:cNvSpPr/>
          <p:nvPr/>
        </p:nvSpPr>
        <p:spPr>
          <a:xfrm>
            <a:off x="457200" y="1600200"/>
            <a:ext cx="7390440" cy="11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Operation that combines an image with a filter (also called a kernel) to produce a modified output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1"/>
          <p:cNvSpPr/>
          <p:nvPr/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000" spc="-99" strike="noStrike" u="none">
                <a:solidFill>
                  <a:schemeClr val="dk2"/>
                </a:solidFill>
                <a:effectLst/>
                <a:uFillTx/>
                <a:latin typeface="Times New Roman"/>
              </a:rPr>
              <a:t>Convolution Operation 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15" descr=""/>
          <p:cNvPicPr/>
          <p:nvPr/>
        </p:nvPicPr>
        <p:blipFill>
          <a:blip r:embed="rId1"/>
          <a:stretch/>
        </p:blipFill>
        <p:spPr>
          <a:xfrm>
            <a:off x="3297600" y="4060800"/>
            <a:ext cx="2552400" cy="186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16" descr=""/>
          <p:cNvPicPr/>
          <p:nvPr/>
        </p:nvPicPr>
        <p:blipFill>
          <a:blip r:embed="rId2"/>
          <a:stretch/>
        </p:blipFill>
        <p:spPr>
          <a:xfrm>
            <a:off x="2586600" y="1705320"/>
            <a:ext cx="159012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17" descr=""/>
          <p:cNvPicPr/>
          <p:nvPr/>
        </p:nvPicPr>
        <p:blipFill>
          <a:blip r:embed="rId3"/>
          <a:stretch/>
        </p:blipFill>
        <p:spPr>
          <a:xfrm>
            <a:off x="4905720" y="2652480"/>
            <a:ext cx="786960" cy="66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8"/>
          <p:cNvSpPr/>
          <p:nvPr/>
        </p:nvSpPr>
        <p:spPr>
          <a:xfrm>
            <a:off x="2679480" y="3277080"/>
            <a:ext cx="13770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 x 5 image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4849200" y="3362040"/>
            <a:ext cx="1441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 x 3 kernel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ight Arrow 11"/>
          <p:cNvSpPr/>
          <p:nvPr/>
        </p:nvSpPr>
        <p:spPr>
          <a:xfrm>
            <a:off x="2247480" y="4565880"/>
            <a:ext cx="863640" cy="65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7" name="Picture 21" descr=""/>
          <p:cNvPicPr/>
          <p:nvPr/>
        </p:nvPicPr>
        <p:blipFill>
          <a:blip r:embed="rId4"/>
          <a:stretch/>
        </p:blipFill>
        <p:spPr>
          <a:xfrm>
            <a:off x="7758360" y="836640"/>
            <a:ext cx="3300480" cy="542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內容版面配置區 2"/>
          <p:cNvSpPr/>
          <p:nvPr/>
        </p:nvSpPr>
        <p:spPr>
          <a:xfrm>
            <a:off x="1319400" y="2324160"/>
            <a:ext cx="1065672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Times New Roman"/>
              <a:ea typeface="新細明體"/>
            </a:endParaRPr>
          </a:p>
        </p:txBody>
      </p:sp>
      <p:sp>
        <p:nvSpPr>
          <p:cNvPr id="129" name="矩形 6"/>
          <p:cNvSpPr/>
          <p:nvPr/>
        </p:nvSpPr>
        <p:spPr>
          <a:xfrm>
            <a:off x="1797840" y="3257640"/>
            <a:ext cx="2304000" cy="2664000"/>
          </a:xfrm>
          <a:prstGeom prst="rect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矩形 20"/>
          <p:cNvSpPr/>
          <p:nvPr/>
        </p:nvSpPr>
        <p:spPr>
          <a:xfrm>
            <a:off x="2126520" y="3576960"/>
            <a:ext cx="1680840" cy="201600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文字方塊 10"/>
          <p:cNvSpPr/>
          <p:nvPr/>
        </p:nvSpPr>
        <p:spPr>
          <a:xfrm>
            <a:off x="2658600" y="4404960"/>
            <a:ext cx="581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圖片 17" descr=""/>
          <p:cNvPicPr/>
          <p:nvPr/>
        </p:nvPicPr>
        <p:blipFill>
          <a:blip r:embed="rId1"/>
          <a:stretch/>
        </p:blipFill>
        <p:spPr>
          <a:xfrm>
            <a:off x="4627440" y="3519720"/>
            <a:ext cx="48477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Rectangle 14"/>
          <p:cNvSpPr/>
          <p:nvPr/>
        </p:nvSpPr>
        <p:spPr>
          <a:xfrm>
            <a:off x="4903920" y="5020200"/>
            <a:ext cx="52700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Zero Padding 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https://www.youtube.com/watch?v=akf-b2jF3CA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itle 1"/>
          <p:cNvSpPr/>
          <p:nvPr/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000" spc="-99" strike="noStrike" u="none">
                <a:solidFill>
                  <a:schemeClr val="dk2"/>
                </a:solidFill>
                <a:effectLst/>
                <a:uFillTx/>
                <a:latin typeface="Times New Roman"/>
              </a:rPr>
              <a:t>Padding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Content Placeholder 2"/>
          <p:cNvSpPr/>
          <p:nvPr/>
        </p:nvSpPr>
        <p:spPr>
          <a:xfrm>
            <a:off x="457200" y="1587960"/>
            <a:ext cx="11440440" cy="11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Adding extra pixels around the border of an image before performing convolution.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Control the size of the output image and ensure that the convolution can be applied to the pixels near the edges.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/>
          <p:nvPr/>
        </p:nvSpPr>
        <p:spPr>
          <a:xfrm>
            <a:off x="457200" y="533520"/>
            <a:ext cx="112838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000" spc="-99" strike="noStrike" u="none">
                <a:solidFill>
                  <a:schemeClr val="dk2"/>
                </a:solidFill>
                <a:effectLst/>
                <a:uFillTx/>
                <a:latin typeface="Times New Roman"/>
              </a:rPr>
              <a:t>Image Downsampling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ontent Placeholder 2"/>
          <p:cNvSpPr/>
          <p:nvPr/>
        </p:nvSpPr>
        <p:spPr>
          <a:xfrm>
            <a:off x="457200" y="1600200"/>
            <a:ext cx="787860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82880" indent="-182880" algn="just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Image downsampling is a spatial operation that reduces the total number of pixels by increasing the distance between samples.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algn="just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When an image contains very fine details or sharp edges, a low sampling density cannot capture these patterns accurately.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algn="just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mismatch causes high-frequency information to appear as distorted, low-frequency patterns such as jagged lines.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algn="just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Pre-filtering with a blur kernel removes these problematic fine details, allowing the downsampled grid to represent the scene smoothly without visual artifacts.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4" descr="21 Downsampling and Upsampling Images – Foundations of Computer Vision"/>
          <p:cNvPicPr/>
          <p:nvPr/>
        </p:nvPicPr>
        <p:blipFill>
          <a:blip r:embed="rId1"/>
          <a:srcRect l="44123" t="0" r="0" b="0"/>
          <a:stretch/>
        </p:blipFill>
        <p:spPr>
          <a:xfrm>
            <a:off x="8488080" y="2671560"/>
            <a:ext cx="3462480" cy="163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文字方塊 3"/>
          <p:cNvSpPr/>
          <p:nvPr/>
        </p:nvSpPr>
        <p:spPr>
          <a:xfrm>
            <a:off x="396360" y="609480"/>
            <a:ext cx="5181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Grading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文字方塊 4"/>
          <p:cNvSpPr/>
          <p:nvPr/>
        </p:nvSpPr>
        <p:spPr>
          <a:xfrm>
            <a:off x="678240" y="1423800"/>
            <a:ext cx="10970280" cy="53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457200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Program (80%) 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o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Q1: 10%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Q2: 15%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Q3: 25%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Q4: 30%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Report : 20%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Explain your program and method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Put the result images (1 input images, 5 outputs images)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Compare and discuss the difference between the output image file size produced by grayscale image (Q1) and the image quantization (Q2).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Compare and discuss the difference between the output produced by grayscale image + downsampling (Q4a) and box filter + downsampling (Q4b).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文字方塊 1"/>
          <p:cNvSpPr/>
          <p:nvPr/>
        </p:nvSpPr>
        <p:spPr>
          <a:xfrm>
            <a:off x="396360" y="609480"/>
            <a:ext cx="5181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Folder Structure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文字方塊 2"/>
          <p:cNvSpPr/>
          <p:nvPr/>
        </p:nvSpPr>
        <p:spPr>
          <a:xfrm>
            <a:off x="2784240" y="1582200"/>
            <a:ext cx="3024000" cy="30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111999406_hw1/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├─ test_img/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CKS.png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├─ result_img/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CKS _Q1.png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CKS _Q2.png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CKS _Q3.png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CKS _Q4.png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├─ 111999406 _hw1.py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├─ 111999406 _hw1.pdf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├─ Readme.txt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文字方塊 3"/>
          <p:cNvSpPr/>
          <p:nvPr/>
        </p:nvSpPr>
        <p:spPr>
          <a:xfrm>
            <a:off x="2784240" y="1194480"/>
            <a:ext cx="1439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Python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文字方塊 4"/>
          <p:cNvSpPr/>
          <p:nvPr/>
        </p:nvSpPr>
        <p:spPr>
          <a:xfrm>
            <a:off x="7057080" y="1582200"/>
            <a:ext cx="3024000" cy="37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111999406 _hw1/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├─ project_hw1/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test_img/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│ ├─ CKS.png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result_img/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│ ├─ CKS _Q1.png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│ ├─ CKS _Q2.png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│ ├─ CKS _Q3.png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│ ├─ CKS _Q4.png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include/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│ ├─ func.h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func.cpp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│ ├─ main.cpp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├─ 111999406 _hw1.pdf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├─ Readme.txt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文字方塊 5"/>
          <p:cNvSpPr/>
          <p:nvPr/>
        </p:nvSpPr>
        <p:spPr>
          <a:xfrm>
            <a:off x="7057080" y="1194480"/>
            <a:ext cx="1439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C/C++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文字方塊 26"/>
          <p:cNvSpPr/>
          <p:nvPr/>
        </p:nvSpPr>
        <p:spPr>
          <a:xfrm>
            <a:off x="1002240" y="4959360"/>
            <a:ext cx="4806000" cy="12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Write your report in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English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(PDF)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Explaining how your main function working and shown the results on your report.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1"/>
          <p:cNvSpPr/>
          <p:nvPr/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400" spc="-99" strike="noStrike" u="none">
                <a:solidFill>
                  <a:schemeClr val="dk2"/>
                </a:solidFill>
                <a:effectLst/>
                <a:uFillTx/>
                <a:latin typeface="Times New Roman"/>
                <a:ea typeface="新細明體"/>
              </a:rPr>
              <a:t>Homework #1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ontent Placeholder 2"/>
          <p:cNvSpPr/>
          <p:nvPr/>
        </p:nvSpPr>
        <p:spPr>
          <a:xfrm>
            <a:off x="457200" y="1412640"/>
            <a:ext cx="11277360" cy="50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18288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Please compress your files (program and report)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StudentID_hw1( for example: 111999406_hw1.zip)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Please submit to iStudy, in Homework 1 Assignment.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561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Deadline: </a:t>
            </a:r>
            <a:r>
              <a:rPr b="1" lang="en-US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新細明體"/>
              </a:rPr>
              <a:t>2026/03/23 23:59:59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561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新細明體"/>
              </a:rPr>
              <a:t>For each hour late, 10% of the total score will be deducted.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561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新細明體"/>
              </a:rPr>
              <a:t>Don’t share your code and your report with other students. Do it by yourself.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文字方塊 2"/>
          <p:cNvSpPr/>
          <p:nvPr/>
        </p:nvSpPr>
        <p:spPr>
          <a:xfrm>
            <a:off x="1035720" y="2967480"/>
            <a:ext cx="102420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華康POP1體W5"/>
              </a:rPr>
              <a:t>Thanks for your attention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1443</TotalTime>
  <Application>LibreOffice/25.8.2.2$Linux_X86_64 LibreOffice_project/d401f2107ccab8f924a8e2df40f573aab7605b6f</Application>
  <AppVersion>15.0000</AppVersion>
  <Words>1422</Words>
  <Paragraphs>162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2023-04-07T07:55:57Z</dcterms:created>
  <dc:creator>黃一釗</dc:creator>
  <dc:description/>
  <dc:language>en-US</dc:language>
  <cp:lastModifiedBy/>
  <dcterms:modified xsi:type="dcterms:W3CDTF">2026-03-09T17:02:10Z</dcterms:modified>
  <cp:revision>556</cp:revision>
  <dc:subject/>
  <dc:title>PowerPoint 簡報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18</vt:i4>
  </property>
</Properties>
</file>