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2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15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media/image4.png" ContentType="image/png"/>
  <Override PartName="/ppt/media/image5.png" ContentType="image/png"/>
  <Override PartName="/ppt/media/image3.jpeg" ContentType="image/jpeg"/>
  <Override PartName="/ppt/media/image6.jpeg" ContentType="image/jpeg"/>
  <Override PartName="/ppt/media/image9.png" ContentType="image/png"/>
  <Override PartName="/ppt/media/image1.jpeg" ContentType="image/jpeg"/>
  <Override PartName="/ppt/media/image7.png" ContentType="image/png"/>
  <Override PartName="/ppt/media/image2.jpeg" ContentType="image/jpe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兩項物件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一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下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以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編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輯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母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片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標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題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樣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式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5415BA-16B2-43DA-9B7D-A1612658C8B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12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對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一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下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以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編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輯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母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片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標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題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樣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式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5F0E0E-CC52-4951-8D9F-A99B88187CF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12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只有標題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一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下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以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編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輯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母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片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標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題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樣</a:t>
            </a: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式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2A32DC-8521-47BA-831E-60388FAC112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2BC32F-3436-447F-B33F-91C62276FC9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含標題的內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TW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703835-AA6A-4A8A-BC77-53B27FB31CA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含標題的圖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TW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A5711C-F36E-4BAB-AD18-487EBF46056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標題投影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TW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FE6F33-2F98-410B-B1FF-CE573AA5DFB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矩形 6"/>
          <p:cNvSpPr/>
          <p:nvPr/>
        </p:nvSpPr>
        <p:spPr>
          <a:xfrm>
            <a:off x="0" y="0"/>
            <a:ext cx="12191040" cy="358920"/>
          </a:xfrm>
          <a:prstGeom prst="rect">
            <a:avLst/>
          </a:prstGeom>
          <a:solidFill>
            <a:srgbClr val="6076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標題及直排文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56437E-159C-44C1-91F5-041739AEF1A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直排標題及文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000" cy="581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160" cy="581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245D23-0665-4E6E-BE01-4060D064717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標題及物件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TW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第二層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第三層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TW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第五層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1A3602-D3D0-4BFB-B4AF-E11A3F1DEAE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章節標題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zh-TW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按一下以編輯母片標題樣式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TW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編輯母片文字樣式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04F0137-1325-4AC3-8A84-E77AF4C767A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字方塊 6"/>
          <p:cNvSpPr/>
          <p:nvPr/>
        </p:nvSpPr>
        <p:spPr>
          <a:xfrm>
            <a:off x="2358360" y="2387520"/>
            <a:ext cx="757080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Computer Vision Homework #2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" name="直線接點 8"/>
          <p:cNvCxnSpPr/>
          <p:nvPr/>
        </p:nvCxnSpPr>
        <p:spPr>
          <a:xfrm>
            <a:off x="2563920" y="3429000"/>
            <a:ext cx="7065000" cy="1080"/>
          </a:xfrm>
          <a:prstGeom prst="straightConnector1">
            <a:avLst/>
          </a:prstGeom>
          <a:ln w="38100">
            <a:solidFill>
              <a:srgbClr val="6076b4"/>
            </a:solidFill>
            <a:round/>
          </a:ln>
        </p:spPr>
      </p:cxnSp>
      <p:sp>
        <p:nvSpPr>
          <p:cNvPr id="63" name="Title 1"/>
          <p:cNvSpPr/>
          <p:nvPr/>
        </p:nvSpPr>
        <p:spPr>
          <a:xfrm>
            <a:off x="7227360" y="4829760"/>
            <a:ext cx="3957840" cy="11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TA</a:t>
            </a: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：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Syahrul Munir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	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Email</a:t>
            </a: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：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t111999406@ntut.org.tw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Robot Vision Lab (Room 1421)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Picture 2" descr="C:\Users\Jeremy\Desktop\RVL logo\RVL01.jpg"/>
          <p:cNvPicPr/>
          <p:nvPr/>
        </p:nvPicPr>
        <p:blipFill>
          <a:blip r:embed="rId1"/>
          <a:stretch/>
        </p:blipFill>
        <p:spPr>
          <a:xfrm>
            <a:off x="35640" y="5229360"/>
            <a:ext cx="2823480" cy="158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ontent Placeholder 3"/>
          <p:cNvSpPr/>
          <p:nvPr/>
        </p:nvSpPr>
        <p:spPr>
          <a:xfrm>
            <a:off x="457200" y="1600200"/>
            <a:ext cx="8228520" cy="48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微軟正黑體"/>
              </a:rPr>
              <a:t>2026/03/09 – Homework 1 assigned, due 03/23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rgbClr val="ff0000"/>
                </a:solidFill>
                <a:effectLst/>
                <a:uFillTx/>
                <a:latin typeface="Arial"/>
                <a:ea typeface="微軟正黑體"/>
              </a:rPr>
              <a:t>2026/03/23 – Homework 2 assigned, due 04/06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微軟正黑體"/>
              </a:rPr>
              <a:t>2026/04/27 – Homework 3 assigned, due 05/11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微軟正黑體"/>
              </a:rPr>
              <a:t>2026/05/25 – Homework 4 assigned, due 06/08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標題 1"/>
          <p:cNvSpPr/>
          <p:nvPr/>
        </p:nvSpPr>
        <p:spPr>
          <a:xfrm>
            <a:off x="457200" y="533520"/>
            <a:ext cx="8228520" cy="8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5000"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4000" spc="-99" strike="noStrike" u="none">
                <a:solidFill>
                  <a:srgbClr val="2f5897"/>
                </a:solidFill>
                <a:effectLst/>
                <a:uFillTx/>
                <a:latin typeface="Arial"/>
                <a:ea typeface="微軟正黑體"/>
              </a:rPr>
              <a:t>Homework Assignment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ontent Placeholder 3"/>
          <p:cNvSpPr/>
          <p:nvPr/>
        </p:nvSpPr>
        <p:spPr>
          <a:xfrm>
            <a:off x="457200" y="1600200"/>
            <a:ext cx="11517840" cy="48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182880" indent="-182880" defTabSz="914400">
              <a:lnSpc>
                <a:spcPct val="150000"/>
              </a:lnSpc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Upload your report only in PDF.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50000"/>
              </a:lnSpc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If you find your image after convolution is "weird", you need to check if the pixel's value of the output is between 0 and 255 or not. You can set the limit of your matrix, so the minimum value is 0 and the maximum value is 255.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50000"/>
              </a:lnSpc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Check the workflow of the Homework, don't use the wrong input.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50000"/>
              </a:lnSpc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The score of Homework #1 will be available around 2 weeks from now. You can check the i-study for future updates.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標題 1"/>
          <p:cNvSpPr/>
          <p:nvPr/>
        </p:nvSpPr>
        <p:spPr>
          <a:xfrm>
            <a:off x="457200" y="692280"/>
            <a:ext cx="8228520" cy="8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5000" lnSpcReduction="9999"/>
          </a:bodyPr>
          <a:p>
            <a:pPr defTabSz="914400">
              <a:lnSpc>
                <a:spcPct val="150000"/>
              </a:lnSpc>
            </a:pPr>
            <a:r>
              <a:rPr b="1" lang="en-US" sz="4000" spc="-99" strike="noStrike" u="none">
                <a:solidFill>
                  <a:srgbClr val="2f5897"/>
                </a:solidFill>
                <a:effectLst/>
                <a:uFillTx/>
                <a:latin typeface="Arial"/>
                <a:ea typeface="微軟正黑體"/>
              </a:rPr>
              <a:t>Notes from Homework #1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字方塊 2"/>
          <p:cNvSpPr/>
          <p:nvPr/>
        </p:nvSpPr>
        <p:spPr>
          <a:xfrm>
            <a:off x="396360" y="609480"/>
            <a:ext cx="242712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Homework 2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文字方塊 3"/>
          <p:cNvSpPr/>
          <p:nvPr/>
        </p:nvSpPr>
        <p:spPr>
          <a:xfrm>
            <a:off x="396360" y="1122480"/>
            <a:ext cx="11469600" cy="64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Give an image with </a:t>
            </a:r>
            <a:r>
              <a:rPr b="1" lang="en-US" sz="2400" strike="noStrike" u="none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noise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 (CKS_noise.png)  for testing as follow: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Median Filter</a:t>
            </a:r>
            <a:r>
              <a:rPr b="1" lang="zh-TW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：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decide the kernel size, stride size, padding size by yourself. Find the best setting with the highest PSNR value that you can get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 </a:t>
            </a:r>
            <a:r>
              <a:rPr b="0" lang="en-US" sz="2000" strike="noStrike" u="none">
                <a:solidFill>
                  <a:schemeClr val="accent1"/>
                </a:solidFill>
                <a:effectLst/>
                <a:uFillTx/>
                <a:latin typeface="Times New Roman"/>
                <a:ea typeface="新細明體"/>
              </a:rPr>
              <a:t>(save as CKS_Q1.png)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Gaussian Filter</a:t>
            </a:r>
            <a:r>
              <a:rPr b="1" lang="zh-TW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：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decide the kernel size, stride size, padding size by yourself. Find the best setting with the highest PSNR value that you can get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 </a:t>
            </a:r>
            <a:r>
              <a:rPr b="0" lang="en-US" sz="2000" strike="noStrike" u="none">
                <a:solidFill>
                  <a:schemeClr val="accent1"/>
                </a:solidFill>
                <a:effectLst/>
                <a:uFillTx/>
                <a:latin typeface="Times New Roman"/>
                <a:ea typeface="新細明體"/>
              </a:rPr>
              <a:t>(save as CKS_Q2.png)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Combine :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by combining median and gaussian filter, find the best image results with the highest PSNR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新細明體"/>
              </a:rPr>
              <a:t>value that you can get </a:t>
            </a:r>
            <a:r>
              <a:rPr b="0" lang="en-US" sz="2000" strike="noStrike" u="none">
                <a:solidFill>
                  <a:schemeClr val="accent1"/>
                </a:solidFill>
                <a:effectLst/>
                <a:uFillTx/>
                <a:latin typeface="Times New Roman"/>
                <a:ea typeface="新細明體"/>
              </a:rPr>
              <a:t>(save as CKS_Q3.png)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Image Histogram</a:t>
            </a:r>
            <a:r>
              <a:rPr b="1" lang="zh-TW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：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accumulate the number of each pixel value, then draw a histogram for each output image from previous tasks. </a:t>
            </a:r>
            <a:r>
              <a:rPr b="0" lang="en-US" sz="2000" strike="noStrike" u="none">
                <a:solidFill>
                  <a:schemeClr val="accent1"/>
                </a:solidFill>
                <a:effectLst/>
                <a:uFillTx/>
                <a:latin typeface="Times New Roman"/>
                <a:ea typeface="新細明體"/>
              </a:rPr>
              <a:t>(save as : CKS_noise-his.png, CKS_Q1-his.png, CKS_Q2-his.png, CKS_Q3-his.png)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1" i="1" lang="en-US" sz="1800" strike="noStrike" u="sng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※There are totally 7 images in your report.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1" i="1" lang="en-US" sz="1800" strike="noStrike" u="sng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※The kernel, stride, and padding size can be different for each question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字方塊 2"/>
          <p:cNvSpPr/>
          <p:nvPr/>
        </p:nvSpPr>
        <p:spPr>
          <a:xfrm>
            <a:off x="377640" y="707760"/>
            <a:ext cx="468252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新細明體"/>
              </a:rPr>
              <a:t>Homework 2 Workflow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矩形 6"/>
          <p:cNvSpPr/>
          <p:nvPr/>
        </p:nvSpPr>
        <p:spPr>
          <a:xfrm>
            <a:off x="6101640" y="2475360"/>
            <a:ext cx="851400" cy="584280"/>
          </a:xfrm>
          <a:prstGeom prst="rect">
            <a:avLst/>
          </a:prstGeom>
          <a:solidFill>
            <a:srgbClr val="5b9bd5"/>
          </a:solidFill>
          <a:ln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Q1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矩形 7"/>
          <p:cNvSpPr/>
          <p:nvPr/>
        </p:nvSpPr>
        <p:spPr>
          <a:xfrm>
            <a:off x="6104160" y="3600000"/>
            <a:ext cx="851400" cy="590400"/>
          </a:xfrm>
          <a:prstGeom prst="rect">
            <a:avLst/>
          </a:prstGeom>
          <a:solidFill>
            <a:srgbClr val="5b9bd5"/>
          </a:solidFill>
          <a:ln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Q2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矩形 8"/>
          <p:cNvSpPr/>
          <p:nvPr/>
        </p:nvSpPr>
        <p:spPr>
          <a:xfrm>
            <a:off x="6105240" y="4641480"/>
            <a:ext cx="856440" cy="590400"/>
          </a:xfrm>
          <a:prstGeom prst="rect">
            <a:avLst/>
          </a:prstGeom>
          <a:solidFill>
            <a:srgbClr val="5b9bd5"/>
          </a:solidFill>
          <a:ln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Times New Roman"/>
                <a:ea typeface="微軟正黑體"/>
              </a:rPr>
              <a:t>Q3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矩形 9"/>
          <p:cNvSpPr/>
          <p:nvPr/>
        </p:nvSpPr>
        <p:spPr>
          <a:xfrm>
            <a:off x="8642880" y="2426040"/>
            <a:ext cx="826920" cy="596520"/>
          </a:xfrm>
          <a:prstGeom prst="rect">
            <a:avLst/>
          </a:prstGeom>
          <a:solidFill>
            <a:srgbClr val="5b9bd5"/>
          </a:solidFill>
          <a:ln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Q4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直線單箭頭接點 12"/>
          <p:cNvCxnSpPr/>
          <p:nvPr/>
        </p:nvCxnSpPr>
        <p:spPr>
          <a:xfrm>
            <a:off x="5065920" y="2803680"/>
            <a:ext cx="1036440" cy="216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sp>
        <p:nvSpPr>
          <p:cNvPr id="77" name="文字方塊 14"/>
          <p:cNvSpPr/>
          <p:nvPr/>
        </p:nvSpPr>
        <p:spPr>
          <a:xfrm>
            <a:off x="4033800" y="2539800"/>
            <a:ext cx="104436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Input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直線單箭頭接點 15"/>
          <p:cNvCxnSpPr/>
          <p:nvPr/>
        </p:nvCxnSpPr>
        <p:spPr>
          <a:xfrm>
            <a:off x="6958440" y="2766960"/>
            <a:ext cx="311400" cy="180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sp>
        <p:nvSpPr>
          <p:cNvPr id="79" name="文字方塊 16"/>
          <p:cNvSpPr/>
          <p:nvPr/>
        </p:nvSpPr>
        <p:spPr>
          <a:xfrm>
            <a:off x="7315200" y="2514600"/>
            <a:ext cx="11577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CKS_Q1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直線單箭頭接點 17"/>
          <p:cNvCxnSpPr/>
          <p:nvPr/>
        </p:nvCxnSpPr>
        <p:spPr>
          <a:xfrm>
            <a:off x="8307000" y="2766960"/>
            <a:ext cx="311400" cy="180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81" name="直線單箭頭接點 18"/>
          <p:cNvCxnSpPr/>
          <p:nvPr/>
        </p:nvCxnSpPr>
        <p:spPr>
          <a:xfrm>
            <a:off x="6969240" y="3873240"/>
            <a:ext cx="311760" cy="180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sp>
        <p:nvSpPr>
          <p:cNvPr id="82" name="文字方塊 19"/>
          <p:cNvSpPr/>
          <p:nvPr/>
        </p:nvSpPr>
        <p:spPr>
          <a:xfrm>
            <a:off x="7315200" y="3666960"/>
            <a:ext cx="11577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CKS_Q2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" name="直線單箭頭接點 20"/>
          <p:cNvCxnSpPr/>
          <p:nvPr/>
        </p:nvCxnSpPr>
        <p:spPr>
          <a:xfrm>
            <a:off x="8330040" y="3897720"/>
            <a:ext cx="311400" cy="180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84" name="直線單箭頭接點 21"/>
          <p:cNvCxnSpPr/>
          <p:nvPr/>
        </p:nvCxnSpPr>
        <p:spPr>
          <a:xfrm>
            <a:off x="6964200" y="4905360"/>
            <a:ext cx="311760" cy="216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sp>
        <p:nvSpPr>
          <p:cNvPr id="85" name="文字方塊 22"/>
          <p:cNvSpPr/>
          <p:nvPr/>
        </p:nvSpPr>
        <p:spPr>
          <a:xfrm>
            <a:off x="7315200" y="4705920"/>
            <a:ext cx="11577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CKS_Q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3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" name="直線單箭頭接點 24"/>
          <p:cNvCxnSpPr/>
          <p:nvPr/>
        </p:nvCxnSpPr>
        <p:spPr>
          <a:xfrm>
            <a:off x="9475560" y="2720880"/>
            <a:ext cx="311400" cy="180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sp>
        <p:nvSpPr>
          <p:cNvPr id="87" name="文字方塊 25"/>
          <p:cNvSpPr/>
          <p:nvPr/>
        </p:nvSpPr>
        <p:spPr>
          <a:xfrm>
            <a:off x="9779400" y="2536560"/>
            <a:ext cx="170820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CKS_Q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1-his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矩形 9"/>
          <p:cNvSpPr/>
          <p:nvPr/>
        </p:nvSpPr>
        <p:spPr>
          <a:xfrm>
            <a:off x="8655120" y="3581280"/>
            <a:ext cx="826920" cy="596520"/>
          </a:xfrm>
          <a:prstGeom prst="rect">
            <a:avLst/>
          </a:prstGeom>
          <a:solidFill>
            <a:srgbClr val="5b9bd5"/>
          </a:solidFill>
          <a:ln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Q4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9" name="直線單箭頭接點 24"/>
          <p:cNvCxnSpPr/>
          <p:nvPr/>
        </p:nvCxnSpPr>
        <p:spPr>
          <a:xfrm>
            <a:off x="9487800" y="3876120"/>
            <a:ext cx="311400" cy="180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sp>
        <p:nvSpPr>
          <p:cNvPr id="90" name="文字方塊 25"/>
          <p:cNvSpPr/>
          <p:nvPr/>
        </p:nvSpPr>
        <p:spPr>
          <a:xfrm>
            <a:off x="9785520" y="3679560"/>
            <a:ext cx="15541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CKS_Q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2-his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直線單箭頭接點 20"/>
          <p:cNvCxnSpPr/>
          <p:nvPr/>
        </p:nvCxnSpPr>
        <p:spPr>
          <a:xfrm>
            <a:off x="8336160" y="4936320"/>
            <a:ext cx="311400" cy="180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sp>
        <p:nvSpPr>
          <p:cNvPr id="92" name="矩形 9"/>
          <p:cNvSpPr/>
          <p:nvPr/>
        </p:nvSpPr>
        <p:spPr>
          <a:xfrm>
            <a:off x="8661240" y="4595400"/>
            <a:ext cx="826920" cy="596520"/>
          </a:xfrm>
          <a:prstGeom prst="rect">
            <a:avLst/>
          </a:prstGeom>
          <a:solidFill>
            <a:srgbClr val="5b9bd5"/>
          </a:solidFill>
          <a:ln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Q4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3" name="直線單箭頭接點 24"/>
          <p:cNvCxnSpPr/>
          <p:nvPr/>
        </p:nvCxnSpPr>
        <p:spPr>
          <a:xfrm>
            <a:off x="9493920" y="4890240"/>
            <a:ext cx="311400" cy="180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sp>
        <p:nvSpPr>
          <p:cNvPr id="94" name="文字方塊 25"/>
          <p:cNvSpPr/>
          <p:nvPr/>
        </p:nvSpPr>
        <p:spPr>
          <a:xfrm>
            <a:off x="9791640" y="4693680"/>
            <a:ext cx="15541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CKS_Q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微軟正黑體"/>
              </a:rPr>
              <a:t>3-his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5" name="直線單箭頭接點 12"/>
          <p:cNvCxnSpPr/>
          <p:nvPr/>
        </p:nvCxnSpPr>
        <p:spPr>
          <a:xfrm>
            <a:off x="4764600" y="3037320"/>
            <a:ext cx="1331640" cy="83772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96" name="直線單箭頭接點 12"/>
          <p:cNvCxnSpPr/>
          <p:nvPr/>
        </p:nvCxnSpPr>
        <p:spPr>
          <a:xfrm>
            <a:off x="4574160" y="3092760"/>
            <a:ext cx="1534320" cy="186984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pic>
        <p:nvPicPr>
          <p:cNvPr id="97" name="Picture 21" descr="A black and white photo of a building&#10;&#10;Description automatically generated"/>
          <p:cNvPicPr/>
          <p:nvPr/>
        </p:nvPicPr>
        <p:blipFill>
          <a:blip r:embed="rId1"/>
          <a:stretch/>
        </p:blipFill>
        <p:spPr>
          <a:xfrm>
            <a:off x="972360" y="1819080"/>
            <a:ext cx="2807280" cy="190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Picture 26" descr=""/>
          <p:cNvPicPr/>
          <p:nvPr/>
        </p:nvPicPr>
        <p:blipFill>
          <a:blip r:embed="rId2"/>
          <a:stretch/>
        </p:blipFill>
        <p:spPr>
          <a:xfrm>
            <a:off x="1034640" y="4507560"/>
            <a:ext cx="2807280" cy="190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Box 28"/>
          <p:cNvSpPr/>
          <p:nvPr/>
        </p:nvSpPr>
        <p:spPr>
          <a:xfrm>
            <a:off x="1801080" y="1558800"/>
            <a:ext cx="11505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chemeClr val="lt2">
                    <a:lumMod val="49000"/>
                  </a:schemeClr>
                </a:solidFill>
                <a:effectLst/>
                <a:uFillTx/>
                <a:latin typeface="Calibri"/>
                <a:ea typeface="Calibri"/>
              </a:rPr>
              <a:t>CKS_noise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31"/>
          <p:cNvSpPr/>
          <p:nvPr/>
        </p:nvSpPr>
        <p:spPr>
          <a:xfrm>
            <a:off x="1929960" y="4250160"/>
            <a:ext cx="1168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chemeClr val="lt2">
                    <a:lumMod val="49000"/>
                  </a:schemeClr>
                </a:solidFill>
                <a:effectLst/>
                <a:uFillTx/>
                <a:latin typeface="Calibri"/>
                <a:ea typeface="Calibri"/>
              </a:rPr>
              <a:t>CKS_grayscale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1" name="直線單箭頭接點 12"/>
          <p:cNvCxnSpPr/>
          <p:nvPr/>
        </p:nvCxnSpPr>
        <p:spPr>
          <a:xfrm flipV="1">
            <a:off x="3781440" y="2865960"/>
            <a:ext cx="336240" cy="648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sp>
        <p:nvSpPr>
          <p:cNvPr id="102" name="TextBox 33"/>
          <p:cNvSpPr/>
          <p:nvPr/>
        </p:nvSpPr>
        <p:spPr>
          <a:xfrm>
            <a:off x="3778200" y="5803560"/>
            <a:ext cx="6828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i="1" lang="en-US" sz="1800" strike="noStrike" u="sng">
                <a:solidFill>
                  <a:srgbClr val="0070c0"/>
                </a:solidFill>
                <a:effectLst/>
                <a:uFillTx/>
                <a:latin typeface="Times New Roman"/>
              </a:rPr>
              <a:t>※The clean image will only be used to calculate the PSNR value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矩形 9"/>
          <p:cNvSpPr/>
          <p:nvPr/>
        </p:nvSpPr>
        <p:spPr>
          <a:xfrm>
            <a:off x="8642880" y="1498320"/>
            <a:ext cx="826920" cy="596520"/>
          </a:xfrm>
          <a:prstGeom prst="rect">
            <a:avLst/>
          </a:prstGeom>
          <a:solidFill>
            <a:srgbClr val="5b9bd5"/>
          </a:solidFill>
          <a:ln>
            <a:solidFill>
              <a:srgbClr val="3b38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36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Q4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4" name="直線單箭頭接點 24"/>
          <p:cNvCxnSpPr/>
          <p:nvPr/>
        </p:nvCxnSpPr>
        <p:spPr>
          <a:xfrm>
            <a:off x="9475560" y="1792800"/>
            <a:ext cx="311400" cy="216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sp>
        <p:nvSpPr>
          <p:cNvPr id="105" name="文字方塊 25"/>
          <p:cNvSpPr/>
          <p:nvPr/>
        </p:nvSpPr>
        <p:spPr>
          <a:xfrm>
            <a:off x="9773280" y="1596600"/>
            <a:ext cx="17802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微軟正黑體"/>
              </a:rPr>
              <a:t>CKS_noise-his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6" name="直線單箭頭接點 12"/>
          <p:cNvCxnSpPr/>
          <p:nvPr/>
        </p:nvCxnSpPr>
        <p:spPr>
          <a:xfrm flipV="1">
            <a:off x="4660200" y="1772280"/>
            <a:ext cx="3986280" cy="81756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文字方塊 5"/>
          <p:cNvSpPr/>
          <p:nvPr/>
        </p:nvSpPr>
        <p:spPr>
          <a:xfrm>
            <a:off x="396360" y="609480"/>
            <a:ext cx="78192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Salt &amp; Pepper Noise and Median Filter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內容版面配置區 5" descr=""/>
          <p:cNvPicPr/>
          <p:nvPr/>
        </p:nvPicPr>
        <p:blipFill>
          <a:blip r:embed="rId1"/>
          <a:srcRect l="0" t="-548" r="66266" b="-202"/>
          <a:stretch/>
        </p:blipFill>
        <p:spPr>
          <a:xfrm>
            <a:off x="2893320" y="3200400"/>
            <a:ext cx="2815560" cy="340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內容版面配置區 5" descr="A person wearing a hat&#10;&#10;Description automatically generated"/>
          <p:cNvPicPr/>
          <p:nvPr/>
        </p:nvPicPr>
        <p:blipFill>
          <a:blip r:embed="rId2"/>
          <a:srcRect l="66967" t="0" r="82" b="-202"/>
          <a:stretch/>
        </p:blipFill>
        <p:spPr>
          <a:xfrm>
            <a:off x="6547680" y="3203640"/>
            <a:ext cx="2749680" cy="339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文字方塊 3"/>
          <p:cNvSpPr/>
          <p:nvPr/>
        </p:nvSpPr>
        <p:spPr>
          <a:xfrm>
            <a:off x="396360" y="1194480"/>
            <a:ext cx="11469600" cy="22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Median Filter is one of non-linear filters, which is also used for smoothing.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Its basic idea is to replace each pixel by the median of its neigboring pixels.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By doing so, it removes some spikes introduced by noise: especially impulse and salt &amp; pepper noise.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表格 1"/>
          <p:cNvGraphicFramePr/>
          <p:nvPr/>
        </p:nvGraphicFramePr>
        <p:xfrm>
          <a:off x="396360" y="2059920"/>
          <a:ext cx="3239640" cy="3240000"/>
        </p:xfrm>
        <a:graphic>
          <a:graphicData uri="http://schemas.openxmlformats.org/drawingml/2006/table">
            <a:tbl>
              <a:tblPr/>
              <a:tblGrid>
                <a:gridCol w="540000"/>
                <a:gridCol w="540000"/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152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252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bb5c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220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0b0b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190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216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a59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157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0fc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4f54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36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155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131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231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2" name="文字方塊 3"/>
          <p:cNvSpPr/>
          <p:nvPr/>
        </p:nvSpPr>
        <p:spPr>
          <a:xfrm>
            <a:off x="396360" y="609480"/>
            <a:ext cx="5180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rgbClr val="0070c0"/>
                </a:solidFill>
                <a:effectLst/>
                <a:uFillTx/>
                <a:latin typeface="Times New Roman"/>
              </a:rPr>
              <a:t>Example</a:t>
            </a:r>
            <a:r>
              <a:rPr b="0" lang="zh-TW" sz="3200" strike="noStrike" u="none">
                <a:solidFill>
                  <a:srgbClr val="0070c0"/>
                </a:solidFill>
                <a:effectLst/>
                <a:uFillTx/>
                <a:latin typeface="Times New Roman"/>
              </a:rPr>
              <a:t>：</a:t>
            </a:r>
            <a:r>
              <a:rPr b="0" lang="en-US" sz="3200" strike="noStrike" u="none">
                <a:solidFill>
                  <a:srgbClr val="0070c0"/>
                </a:solidFill>
                <a:effectLst/>
                <a:uFillTx/>
                <a:latin typeface="Times New Roman"/>
              </a:rPr>
              <a:t>3*3 Median Filter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3" name="表格 5"/>
          <p:cNvGraphicFramePr/>
          <p:nvPr/>
        </p:nvGraphicFramePr>
        <p:xfrm>
          <a:off x="9728640" y="2608200"/>
          <a:ext cx="2159640" cy="2160000"/>
        </p:xfrm>
        <a:graphic>
          <a:graphicData uri="http://schemas.openxmlformats.org/drawingml/2006/table">
            <a:tbl>
              <a:tblPr/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14" name="文字方塊 7"/>
          <p:cNvSpPr/>
          <p:nvPr/>
        </p:nvSpPr>
        <p:spPr>
          <a:xfrm>
            <a:off x="4017600" y="3480120"/>
            <a:ext cx="53283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Sorting</a:t>
            </a:r>
            <a:r>
              <a:rPr b="0" lang="zh-TW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：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24, 40, 68, 124, 128, 152, 157, 220, 252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橢圓 8"/>
          <p:cNvSpPr/>
          <p:nvPr/>
        </p:nvSpPr>
        <p:spPr>
          <a:xfrm>
            <a:off x="6682320" y="3480120"/>
            <a:ext cx="537480" cy="415440"/>
          </a:xfrm>
          <a:prstGeom prst="ellipse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文字方塊 11"/>
          <p:cNvSpPr/>
          <p:nvPr/>
        </p:nvSpPr>
        <p:spPr>
          <a:xfrm>
            <a:off x="1518480" y="5299920"/>
            <a:ext cx="994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image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文字方塊 9"/>
          <p:cNvSpPr/>
          <p:nvPr/>
        </p:nvSpPr>
        <p:spPr>
          <a:xfrm>
            <a:off x="396360" y="1379520"/>
            <a:ext cx="7340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It’s a nonlinear filter.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矩形 2"/>
          <p:cNvSpPr/>
          <p:nvPr/>
        </p:nvSpPr>
        <p:spPr>
          <a:xfrm>
            <a:off x="3636360" y="5614920"/>
            <a:ext cx="5323680" cy="87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i="1" lang="en-US" sz="1800" strike="noStrike" u="sng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※ Please implement the sorting algorithm by yourself. Not allowed to use any median function from library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文字方塊 5"/>
          <p:cNvSpPr/>
          <p:nvPr/>
        </p:nvSpPr>
        <p:spPr>
          <a:xfrm>
            <a:off x="396360" y="609480"/>
            <a:ext cx="78192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Gaussian Filter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文字方塊 3"/>
          <p:cNvSpPr/>
          <p:nvPr/>
        </p:nvSpPr>
        <p:spPr>
          <a:xfrm>
            <a:off x="396360" y="1194480"/>
            <a:ext cx="11469600" cy="22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Used to `blur' images and remove detail and noise.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Similar to the mean filter, but it uses a different kernel that represents the shape of a Gaussian (`bell-shaped') hump.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2" descr="A rainbow colored cone shaped graph&#10;&#10;Description automatically generated"/>
          <p:cNvPicPr/>
          <p:nvPr/>
        </p:nvPicPr>
        <p:blipFill>
          <a:blip r:embed="rId1"/>
          <a:stretch/>
        </p:blipFill>
        <p:spPr>
          <a:xfrm>
            <a:off x="687240" y="3327480"/>
            <a:ext cx="7247160" cy="214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矩形 2"/>
          <p:cNvSpPr/>
          <p:nvPr/>
        </p:nvSpPr>
        <p:spPr>
          <a:xfrm>
            <a:off x="2697840" y="5569200"/>
            <a:ext cx="6476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i="1" lang="en-US" sz="1800" strike="noStrike" u="sng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※ Please implement the Gaussian kernel equation by yourself.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Picture 1" descr="A collage of a person smiling&#10;&#10;Description automatically generated"/>
          <p:cNvPicPr/>
          <p:nvPr/>
        </p:nvPicPr>
        <p:blipFill>
          <a:blip r:embed="rId2"/>
          <a:stretch/>
        </p:blipFill>
        <p:spPr>
          <a:xfrm>
            <a:off x="8217360" y="3123360"/>
            <a:ext cx="2927520" cy="234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表格 1"/>
          <p:cNvGraphicFramePr/>
          <p:nvPr/>
        </p:nvGraphicFramePr>
        <p:xfrm>
          <a:off x="396360" y="2284920"/>
          <a:ext cx="3239640" cy="3240000"/>
        </p:xfrm>
        <a:graphic>
          <a:graphicData uri="http://schemas.openxmlformats.org/drawingml/2006/table">
            <a:tbl>
              <a:tblPr/>
              <a:tblGrid>
                <a:gridCol w="540000"/>
                <a:gridCol w="540000"/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152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252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bb5c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220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0b0b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190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216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a59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157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0fc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4f54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36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149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155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131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231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161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" name="表格 2"/>
          <p:cNvGraphicFramePr/>
          <p:nvPr/>
        </p:nvGraphicFramePr>
        <p:xfrm>
          <a:off x="4713480" y="2894400"/>
          <a:ext cx="1990080" cy="2022120"/>
        </p:xfrm>
        <a:graphic>
          <a:graphicData uri="http://schemas.openxmlformats.org/drawingml/2006/table">
            <a:tbl>
              <a:tblPr/>
              <a:tblGrid>
                <a:gridCol w="663480"/>
                <a:gridCol w="663480"/>
                <a:gridCol w="663480"/>
              </a:tblGrid>
              <a:tr h="755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0.08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0.12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0.08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6332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0.12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bb5c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0.12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90b0b2"/>
                    </a:solidFill>
                  </a:tcPr>
                </a:tc>
              </a:tr>
              <a:tr h="6332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0.08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a59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0.12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0fc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0.08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c4f549"/>
                    </a:solidFill>
                  </a:tcPr>
                </a:tc>
              </a:tr>
            </a:tbl>
          </a:graphicData>
        </a:graphic>
      </p:graphicFrame>
      <p:sp>
        <p:nvSpPr>
          <p:cNvPr id="126" name="文字方塊 3"/>
          <p:cNvSpPr/>
          <p:nvPr/>
        </p:nvSpPr>
        <p:spPr>
          <a:xfrm>
            <a:off x="396360" y="609480"/>
            <a:ext cx="77580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Example</a:t>
            </a:r>
            <a:r>
              <a:rPr b="0" lang="zh-TW" sz="3200" strike="noStrike" u="none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：</a:t>
            </a:r>
            <a:r>
              <a:rPr b="0" lang="en-US" sz="3200" strike="noStrike" u="none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3*3 Gaussian Filter with sigma=1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文字方塊 4"/>
          <p:cNvSpPr/>
          <p:nvPr/>
        </p:nvSpPr>
        <p:spPr>
          <a:xfrm>
            <a:off x="4160160" y="3551040"/>
            <a:ext cx="33408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*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8" name="表格 5"/>
          <p:cNvGraphicFramePr/>
          <p:nvPr/>
        </p:nvGraphicFramePr>
        <p:xfrm>
          <a:off x="8021880" y="2824920"/>
          <a:ext cx="2159640" cy="2160000"/>
        </p:xfrm>
        <a:graphic>
          <a:graphicData uri="http://schemas.openxmlformats.org/drawingml/2006/table">
            <a:tbl>
              <a:tblPr/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123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9" name="文字方塊 6"/>
          <p:cNvSpPr/>
          <p:nvPr/>
        </p:nvSpPr>
        <p:spPr>
          <a:xfrm>
            <a:off x="7162920" y="3551040"/>
            <a:ext cx="33408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=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文字方塊 13"/>
          <p:cNvSpPr/>
          <p:nvPr/>
        </p:nvSpPr>
        <p:spPr>
          <a:xfrm>
            <a:off x="1518480" y="1924920"/>
            <a:ext cx="994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image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文字方塊 8"/>
          <p:cNvSpPr/>
          <p:nvPr/>
        </p:nvSpPr>
        <p:spPr>
          <a:xfrm>
            <a:off x="396360" y="1379520"/>
            <a:ext cx="7340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As the kernel size increases, the image will become more blur.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文字方塊 8"/>
          <p:cNvSpPr/>
          <p:nvPr/>
        </p:nvSpPr>
        <p:spPr>
          <a:xfrm>
            <a:off x="5261760" y="4986720"/>
            <a:ext cx="950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Approx.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文字方塊 8"/>
          <p:cNvSpPr/>
          <p:nvPr/>
        </p:nvSpPr>
        <p:spPr>
          <a:xfrm>
            <a:off x="1983240" y="5902560"/>
            <a:ext cx="820008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(152*0.08) + (124*0.12) + (252*0.08)+ (128*0.12) + (40*0.2) + (220*0.12) + (68*0.08) + (157*0.12) + (24*0.08) = 123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Picture 9" descr="A rainbow colored cone shaped graph&#10;&#10;Description automatically generated"/>
          <p:cNvPicPr/>
          <p:nvPr/>
        </p:nvPicPr>
        <p:blipFill>
          <a:blip r:embed="rId1"/>
          <a:srcRect l="42081" t="72531" r="38654" b="-225"/>
          <a:stretch/>
        </p:blipFill>
        <p:spPr>
          <a:xfrm>
            <a:off x="6703200" y="1467720"/>
            <a:ext cx="1933920" cy="75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Box 12"/>
          <p:cNvSpPr/>
          <p:nvPr/>
        </p:nvSpPr>
        <p:spPr>
          <a:xfrm>
            <a:off x="5371200" y="3617280"/>
            <a:ext cx="73260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chemeClr val="lt2">
                    <a:lumMod val="49000"/>
                  </a:schemeClr>
                </a:solidFill>
                <a:effectLst/>
                <a:uFillTx/>
                <a:latin typeface="Calibri"/>
                <a:ea typeface="Calibri"/>
              </a:rPr>
              <a:t>x=0, y=0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5"/>
          <p:cNvSpPr/>
          <p:nvPr/>
        </p:nvSpPr>
        <p:spPr>
          <a:xfrm>
            <a:off x="4713840" y="2892240"/>
            <a:ext cx="73260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chemeClr val="lt2">
                    <a:lumMod val="49000"/>
                  </a:schemeClr>
                </a:solidFill>
                <a:effectLst/>
                <a:uFillTx/>
                <a:latin typeface="Calibri"/>
                <a:ea typeface="Calibri"/>
              </a:rPr>
              <a:t>x=-1, y=1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6"/>
          <p:cNvSpPr/>
          <p:nvPr/>
        </p:nvSpPr>
        <p:spPr>
          <a:xfrm>
            <a:off x="6022800" y="4256640"/>
            <a:ext cx="73260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chemeClr val="lt2">
                    <a:lumMod val="49000"/>
                  </a:schemeClr>
                </a:solidFill>
                <a:effectLst/>
                <a:uFillTx/>
                <a:latin typeface="Calibri"/>
                <a:ea typeface="Calibri"/>
              </a:rPr>
              <a:t>x=1, y=-1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8" name="Straight Arrow Connector 17"/>
          <p:cNvCxnSpPr/>
          <p:nvPr/>
        </p:nvCxnSpPr>
        <p:spPr>
          <a:xfrm flipV="1">
            <a:off x="4663080" y="2676960"/>
            <a:ext cx="1990800" cy="2160"/>
          </a:xfrm>
          <a:prstGeom prst="straightConnector1">
            <a:avLst/>
          </a:prstGeom>
          <a:ln w="0">
            <a:solidFill>
              <a:srgbClr val="5b9bd5"/>
            </a:solidFill>
            <a:tailEnd len="med" type="triangle" w="med"/>
          </a:ln>
        </p:spPr>
      </p:cxnSp>
      <p:sp>
        <p:nvSpPr>
          <p:cNvPr id="139" name="TextBox 18"/>
          <p:cNvSpPr/>
          <p:nvPr/>
        </p:nvSpPr>
        <p:spPr>
          <a:xfrm>
            <a:off x="5549400" y="2449800"/>
            <a:ext cx="73260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chemeClr val="lt2">
                    <a:lumMod val="49000"/>
                  </a:schemeClr>
                </a:solidFill>
                <a:effectLst/>
                <a:uFillTx/>
                <a:latin typeface="Calibri"/>
                <a:ea typeface="Calibri"/>
              </a:rPr>
              <a:t>x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0" name="Straight Arrow Connector 19"/>
          <p:cNvCxnSpPr/>
          <p:nvPr/>
        </p:nvCxnSpPr>
        <p:spPr>
          <a:xfrm flipH="1" flipV="1">
            <a:off x="6849360" y="3084120"/>
            <a:ext cx="2520" cy="1760040"/>
          </a:xfrm>
          <a:prstGeom prst="straightConnector1">
            <a:avLst/>
          </a:prstGeom>
          <a:ln w="0">
            <a:solidFill>
              <a:srgbClr val="5b9bd5"/>
            </a:solidFill>
            <a:tailEnd len="med" type="triangle" w="med"/>
          </a:ln>
        </p:spPr>
      </p:cxnSp>
      <p:sp>
        <p:nvSpPr>
          <p:cNvPr id="141" name="TextBox 20"/>
          <p:cNvSpPr/>
          <p:nvPr/>
        </p:nvSpPr>
        <p:spPr>
          <a:xfrm>
            <a:off x="6791040" y="3549960"/>
            <a:ext cx="73260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chemeClr val="lt2">
                    <a:lumMod val="49000"/>
                  </a:schemeClr>
                </a:solidFill>
                <a:effectLst/>
                <a:uFillTx/>
                <a:latin typeface="Calibri"/>
                <a:ea typeface="Calibri"/>
              </a:rPr>
              <a:t>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文字方塊 1"/>
          <p:cNvSpPr/>
          <p:nvPr/>
        </p:nvSpPr>
        <p:spPr>
          <a:xfrm>
            <a:off x="396360" y="882360"/>
            <a:ext cx="694908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Peak Signal-to-Noise Ratio (PSNR)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文字方塊 3"/>
          <p:cNvSpPr/>
          <p:nvPr/>
        </p:nvSpPr>
        <p:spPr>
          <a:xfrm>
            <a:off x="396360" y="1467000"/>
            <a:ext cx="1146960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PSNR is the ratio between the maximum possible power of an image and the power of corrupting noise that affects the quality of its representation.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Calculated in dB.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2" descr="A black text on a white background&#10;&#10;Description automatically generated"/>
          <p:cNvPicPr/>
          <p:nvPr/>
        </p:nvPicPr>
        <p:blipFill>
          <a:blip r:embed="rId1"/>
          <a:stretch/>
        </p:blipFill>
        <p:spPr>
          <a:xfrm>
            <a:off x="3872160" y="3151800"/>
            <a:ext cx="4209120" cy="94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文字方塊 3"/>
          <p:cNvSpPr/>
          <p:nvPr/>
        </p:nvSpPr>
        <p:spPr>
          <a:xfrm>
            <a:off x="494280" y="4466160"/>
            <a:ext cx="11469600" cy="18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L is the maximum possible pixel (255)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N is the total number of pixel in an image (image height x image width)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I(i) is the original image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I^(i) is the noisy image that we want to calculate the PSNR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矩形 2"/>
          <p:cNvSpPr/>
          <p:nvPr/>
        </p:nvSpPr>
        <p:spPr>
          <a:xfrm>
            <a:off x="8686800" y="2973600"/>
            <a:ext cx="28389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i="1" lang="en-US" sz="1800" strike="noStrike" u="sng">
                <a:solidFill>
                  <a:srgbClr val="0070c0"/>
                </a:solidFill>
                <a:effectLst/>
                <a:uFillTx/>
                <a:latin typeface="Times New Roman"/>
                <a:ea typeface="新細明體"/>
              </a:rPr>
              <a:t>※ Please implement the PSNR equation manually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文字方塊 1"/>
          <p:cNvSpPr/>
          <p:nvPr/>
        </p:nvSpPr>
        <p:spPr>
          <a:xfrm>
            <a:off x="396360" y="609480"/>
            <a:ext cx="5180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rgbClr val="0070c0"/>
                </a:solidFill>
                <a:effectLst/>
                <a:uFillTx/>
                <a:latin typeface="Times New Roman"/>
              </a:rPr>
              <a:t>Image Histogram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8" name="群組 4"/>
          <p:cNvGrpSpPr/>
          <p:nvPr/>
        </p:nvGrpSpPr>
        <p:grpSpPr>
          <a:xfrm>
            <a:off x="1750320" y="2240640"/>
            <a:ext cx="8690040" cy="2807280"/>
            <a:chOff x="1750320" y="2240640"/>
            <a:chExt cx="8690040" cy="2807280"/>
          </a:xfrm>
        </p:grpSpPr>
        <p:pic>
          <p:nvPicPr>
            <p:cNvPr id="149" name="內容版面配置區 5" descr=""/>
            <p:cNvPicPr/>
            <p:nvPr/>
          </p:nvPicPr>
          <p:blipFill>
            <a:blip r:embed="rId1"/>
            <a:srcRect l="0" t="0" r="0" b="49151"/>
            <a:stretch/>
          </p:blipFill>
          <p:spPr>
            <a:xfrm>
              <a:off x="1750320" y="2240640"/>
              <a:ext cx="8690040" cy="280728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150" name="直線單箭頭接點 3"/>
            <p:cNvCxnSpPr/>
            <p:nvPr/>
          </p:nvCxnSpPr>
          <p:spPr>
            <a:xfrm>
              <a:off x="4880880" y="3648600"/>
              <a:ext cx="577080" cy="1080"/>
            </a:xfrm>
            <a:prstGeom prst="straightConnector1">
              <a:avLst/>
            </a:prstGeom>
            <a:ln w="38100">
              <a:solidFill>
                <a:srgbClr val="5b9bd5"/>
              </a:solidFill>
              <a:round/>
              <a:tailEnd len="med" type="triangle" w="med"/>
            </a:ln>
          </p:spPr>
        </p:cxnSp>
      </p:grpSp>
      <p:sp>
        <p:nvSpPr>
          <p:cNvPr id="151" name="文字方塊 5"/>
          <p:cNvSpPr/>
          <p:nvPr/>
        </p:nvSpPr>
        <p:spPr>
          <a:xfrm>
            <a:off x="396360" y="1364400"/>
            <a:ext cx="868572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Count the number of each pixel’s intensity (0~255)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文字方塊 6"/>
          <p:cNvSpPr/>
          <p:nvPr/>
        </p:nvSpPr>
        <p:spPr>
          <a:xfrm>
            <a:off x="1750320" y="5140800"/>
            <a:ext cx="335916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Create a table to record the number of each pixel’s intensity.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文字方塊 7"/>
          <p:cNvSpPr/>
          <p:nvPr/>
        </p:nvSpPr>
        <p:spPr>
          <a:xfrm>
            <a:off x="6698160" y="5140800"/>
            <a:ext cx="3359160" cy="6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You can draw the histogram by using the functions of matplotlib.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文字方塊 1"/>
          <p:cNvSpPr/>
          <p:nvPr/>
        </p:nvSpPr>
        <p:spPr>
          <a:xfrm>
            <a:off x="396360" y="609480"/>
            <a:ext cx="5180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rgbClr val="0070c0"/>
                </a:solidFill>
                <a:effectLst/>
                <a:uFillTx/>
                <a:latin typeface="Times New Roman"/>
              </a:rPr>
              <a:t>Example</a:t>
            </a:r>
            <a:r>
              <a:rPr b="0" lang="zh-TW" sz="3200" strike="noStrike" u="none">
                <a:solidFill>
                  <a:srgbClr val="0070c0"/>
                </a:solidFill>
                <a:effectLst/>
                <a:uFillTx/>
                <a:latin typeface="Times New Roman"/>
              </a:rPr>
              <a:t>：</a:t>
            </a:r>
            <a:r>
              <a:rPr b="0" lang="en-US" sz="3200" strike="noStrike" u="none">
                <a:solidFill>
                  <a:srgbClr val="0070c0"/>
                </a:solidFill>
                <a:effectLst/>
                <a:uFillTx/>
                <a:latin typeface="Times New Roman"/>
              </a:rPr>
              <a:t>Image Histogram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5" name="表格 2"/>
          <p:cNvGraphicFramePr/>
          <p:nvPr/>
        </p:nvGraphicFramePr>
        <p:xfrm>
          <a:off x="396360" y="1502640"/>
          <a:ext cx="3239640" cy="3240000"/>
        </p:xfrm>
        <a:graphic>
          <a:graphicData uri="http://schemas.openxmlformats.org/drawingml/2006/table">
            <a:tbl>
              <a:tblPr/>
              <a:tblGrid>
                <a:gridCol w="540000"/>
                <a:gridCol w="540000"/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54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6" name="文字方塊 3"/>
          <p:cNvSpPr/>
          <p:nvPr/>
        </p:nvSpPr>
        <p:spPr>
          <a:xfrm>
            <a:off x="1518480" y="4742640"/>
            <a:ext cx="994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image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7" name="直線單箭頭接點 5"/>
          <p:cNvCxnSpPr/>
          <p:nvPr/>
        </p:nvCxnSpPr>
        <p:spPr>
          <a:xfrm>
            <a:off x="3779280" y="2102400"/>
            <a:ext cx="1179720" cy="1080"/>
          </a:xfrm>
          <a:prstGeom prst="straightConnector1">
            <a:avLst/>
          </a:prstGeom>
          <a:ln w="28575">
            <a:solidFill>
              <a:srgbClr val="5b9bd5"/>
            </a:solidFill>
            <a:round/>
            <a:tailEnd len="med" type="triangle" w="med"/>
          </a:ln>
        </p:spPr>
      </p:cxnSp>
      <p:sp>
        <p:nvSpPr>
          <p:cNvPr id="158" name="矩形 6"/>
          <p:cNvSpPr/>
          <p:nvPr/>
        </p:nvSpPr>
        <p:spPr>
          <a:xfrm>
            <a:off x="3874320" y="1733040"/>
            <a:ext cx="9878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statistics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9" name="表格 8"/>
          <p:cNvGraphicFramePr/>
          <p:nvPr/>
        </p:nvGraphicFramePr>
        <p:xfrm>
          <a:off x="5101200" y="1546920"/>
          <a:ext cx="6590160" cy="736920"/>
        </p:xfrm>
        <a:graphic>
          <a:graphicData uri="http://schemas.openxmlformats.org/drawingml/2006/table">
            <a:tbl>
              <a:tblPr/>
              <a:tblGrid>
                <a:gridCol w="848520"/>
                <a:gridCol w="574200"/>
                <a:gridCol w="574200"/>
                <a:gridCol w="574200"/>
                <a:gridCol w="574200"/>
                <a:gridCol w="574200"/>
                <a:gridCol w="574200"/>
                <a:gridCol w="574200"/>
                <a:gridCol w="574200"/>
                <a:gridCol w="574200"/>
                <a:gridCol w="574200"/>
              </a:tblGrid>
              <a:tr h="370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value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2">
                        <a:lumMod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28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#num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2">
                        <a:lumMod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0" name="文字方塊 9"/>
          <p:cNvSpPr/>
          <p:nvPr/>
        </p:nvSpPr>
        <p:spPr>
          <a:xfrm>
            <a:off x="396360" y="6050880"/>
            <a:ext cx="8259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i="1" lang="en-US" sz="1800" strike="noStrike" u="sng">
                <a:solidFill>
                  <a:srgbClr val="0070c0"/>
                </a:solidFill>
                <a:effectLst/>
                <a:uFillTx/>
                <a:latin typeface="Times New Roman"/>
              </a:rPr>
              <a:t>※ </a:t>
            </a:r>
            <a:r>
              <a:rPr b="0" i="1" lang="en-US" sz="1800" strike="noStrike" u="sng">
                <a:solidFill>
                  <a:srgbClr val="0070c0"/>
                </a:solidFill>
                <a:effectLst/>
                <a:uFillTx/>
                <a:latin typeface="Calibri"/>
              </a:rPr>
              <a:t>The sum of #num must be equal to width of image * height of image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圖片 4" descr=""/>
          <p:cNvPicPr/>
          <p:nvPr/>
        </p:nvPicPr>
        <p:blipFill>
          <a:blip r:embed="rId1"/>
          <a:stretch/>
        </p:blipFill>
        <p:spPr>
          <a:xfrm>
            <a:off x="7353360" y="3344760"/>
            <a:ext cx="3727080" cy="2795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cxnSp>
        <p:nvCxnSpPr>
          <p:cNvPr id="162" name="直線單箭頭接點 13"/>
          <p:cNvCxnSpPr/>
          <p:nvPr/>
        </p:nvCxnSpPr>
        <p:spPr>
          <a:xfrm>
            <a:off x="9221040" y="2495520"/>
            <a:ext cx="1080" cy="628200"/>
          </a:xfrm>
          <a:prstGeom prst="straightConnector1">
            <a:avLst/>
          </a:prstGeom>
          <a:ln w="28575">
            <a:solidFill>
              <a:srgbClr val="5b9bd5"/>
            </a:solidFill>
            <a:round/>
            <a:tailEnd len="med" type="triangle" w="med"/>
          </a:ln>
        </p:spPr>
      </p:cxnSp>
      <p:sp>
        <p:nvSpPr>
          <p:cNvPr id="163" name="矩形 14"/>
          <p:cNvSpPr/>
          <p:nvPr/>
        </p:nvSpPr>
        <p:spPr>
          <a:xfrm>
            <a:off x="7584120" y="2624400"/>
            <a:ext cx="16261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draw histogram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文字方塊 3"/>
          <p:cNvSpPr/>
          <p:nvPr/>
        </p:nvSpPr>
        <p:spPr>
          <a:xfrm>
            <a:off x="396360" y="609480"/>
            <a:ext cx="5180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rgbClr val="0070c0"/>
                </a:solidFill>
                <a:effectLst/>
                <a:uFillTx/>
                <a:latin typeface="Times New Roman"/>
              </a:rPr>
              <a:t>Grading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文字方塊 4"/>
          <p:cNvSpPr/>
          <p:nvPr/>
        </p:nvSpPr>
        <p:spPr>
          <a:xfrm>
            <a:off x="974880" y="1194480"/>
            <a:ext cx="10241280" cy="57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Program (80%)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Median Filter (20%)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Gaussian Filter (20%)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Combined Filter (30%)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Image Histogram (10%)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Report (20%)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SzPct val="70000"/>
              <a:buFont typeface="Arial" charset="2"/>
              <a:buChar char="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Explain your code.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SzPct val="70000"/>
              <a:buFont typeface="Arial" charset="2"/>
              <a:buChar char="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Put the 3 result images that were generated by 3 different filters and their corresponding PSNR values, compare and describe what you observe.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150000"/>
              </a:lnSpc>
              <a:buClr>
                <a:srgbClr val="000000"/>
              </a:buClr>
              <a:buSzPct val="70000"/>
              <a:buFont typeface="Arial" charset="2"/>
              <a:buChar char="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Put the 4 histograms results, analyze and describe the difference between them, and explain the reason.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文字方塊 1"/>
          <p:cNvSpPr/>
          <p:nvPr/>
        </p:nvSpPr>
        <p:spPr>
          <a:xfrm>
            <a:off x="396360" y="609480"/>
            <a:ext cx="51804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rgbClr val="0070c0"/>
                </a:solidFill>
                <a:effectLst/>
                <a:uFillTx/>
                <a:latin typeface="Times New Roman"/>
              </a:rPr>
              <a:t>Folder Structure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文字方塊 2"/>
          <p:cNvSpPr/>
          <p:nvPr/>
        </p:nvSpPr>
        <p:spPr>
          <a:xfrm>
            <a:off x="2784240" y="1514520"/>
            <a:ext cx="3023280" cy="37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111999406 _hw2/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├─ test_img/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├─ CKS_noise.png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├─ CKS_grayscale.png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├─ result_img/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├─ CKS_Q1.png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├─ CKS_Q2.png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├─ CKS_Q3.png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├─ CKS_noise-his.png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├─ CKS_Q1-his.png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├─ CKS_Q2-his.png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├─ CKS_Q3-his.png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├─ 111999406_hw2.py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├─ 111999406_hw2.pdf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├─ Readme.txt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文字方塊 3"/>
          <p:cNvSpPr/>
          <p:nvPr/>
        </p:nvSpPr>
        <p:spPr>
          <a:xfrm>
            <a:off x="2784240" y="1145160"/>
            <a:ext cx="1438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Python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文字方塊 4"/>
          <p:cNvSpPr/>
          <p:nvPr/>
        </p:nvSpPr>
        <p:spPr>
          <a:xfrm>
            <a:off x="7057080" y="1514520"/>
            <a:ext cx="3023280" cy="47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111999406 _hw2/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├─ project_hw2/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├─ test_img/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│  ├─ CKS_noise.png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│  ├─ CKS_grayscale.png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├─ result_img/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│  ├─ CKS_Q1.png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│  ├─ CKS_Q2.png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│  ├─ CKS_Q3.png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│  ├─ CKS_noise-his.png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│  ├─ CKS_Q1-his.png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│  ├─ CKS_Q2-his.png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│  ├─ CKS_Q3-his.png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├─ include/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│  ├─ func.h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├─ func.cpp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│  ├─ main.cpp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├─ 111999406 _hw2.pdf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├─ Readme.txt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文字方塊 5"/>
          <p:cNvSpPr/>
          <p:nvPr/>
        </p:nvSpPr>
        <p:spPr>
          <a:xfrm>
            <a:off x="7057080" y="1145160"/>
            <a:ext cx="1438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sng">
                <a:solidFill>
                  <a:schemeClr val="dk1"/>
                </a:solidFill>
                <a:effectLst/>
                <a:uFillTx/>
                <a:latin typeface="Times New Roman"/>
              </a:rPr>
              <a:t>C/C++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文字方塊 26"/>
          <p:cNvSpPr/>
          <p:nvPr/>
        </p:nvSpPr>
        <p:spPr>
          <a:xfrm>
            <a:off x="897840" y="5211360"/>
            <a:ext cx="4805280" cy="12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Write your report in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English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(PDF)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Explaining how your main function working and shown the results on your report.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 1"/>
          <p:cNvSpPr/>
          <p:nvPr/>
        </p:nvSpPr>
        <p:spPr>
          <a:xfrm>
            <a:off x="457200" y="533520"/>
            <a:ext cx="822852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4400" spc="-99" strike="noStrike" u="none">
                <a:solidFill>
                  <a:schemeClr val="dk2"/>
                </a:solidFill>
                <a:effectLst/>
                <a:uFillTx/>
                <a:latin typeface="Times New Roman"/>
              </a:rPr>
              <a:t>Homework #2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Content Placeholder 2"/>
          <p:cNvSpPr/>
          <p:nvPr/>
        </p:nvSpPr>
        <p:spPr>
          <a:xfrm>
            <a:off x="457200" y="1412640"/>
            <a:ext cx="11276640" cy="50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182880" indent="-182880" defTabSz="914400">
              <a:lnSpc>
                <a:spcPct val="150000"/>
              </a:lnSpc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Please compress your files (program and report)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-182880" defTabSz="914400">
              <a:lnSpc>
                <a:spcPct val="150000"/>
              </a:lnSpc>
              <a:buClr>
                <a:srgbClr val="5b9bd5"/>
              </a:buClr>
              <a:buSzPct val="85000"/>
              <a:buFont typeface="Arial"/>
              <a:buChar char="•"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StudentID_hw2( for example: 111999406_hw2.zip)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50000"/>
              </a:lnSpc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Please submit to iStudy, in Homework 2 Assignment.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641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新細明體"/>
              </a:rPr>
              <a:t>Deadline: </a:t>
            </a:r>
            <a:r>
              <a:rPr b="1" lang="en-US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新細明體"/>
              </a:rPr>
              <a:t>2026/04/06 23:59:59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641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新細明體"/>
              </a:rPr>
              <a:t>For each hour late, 10% of the total score will be deducted.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Bef>
                <a:spcPts val="641"/>
              </a:spcBef>
              <a:buClr>
                <a:srgbClr val="5b9bd5"/>
              </a:buClr>
              <a:buSzPct val="85000"/>
              <a:buFont typeface="Arial"/>
              <a:buChar char="•"/>
            </a:pPr>
            <a:r>
              <a:rPr b="0" lang="en-US" sz="32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新細明體"/>
              </a:rPr>
              <a:t>Don’t share your code with other students. Do it by yourself.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文字方塊 2"/>
          <p:cNvSpPr/>
          <p:nvPr/>
        </p:nvSpPr>
        <p:spPr>
          <a:xfrm>
            <a:off x="1035720" y="2967480"/>
            <a:ext cx="1024128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華康POP1體W5"/>
              </a:rPr>
              <a:t>Thanks for your attention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Application>LibreOffice/25.8.2.2$Linux_X86_64 LibreOffice_project/d401f2107ccab8f924a8e2df40f573aab7605b6f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2023-04-07T07:55:57Z</dcterms:created>
  <dc:creator>黃一釗</dc:creator>
  <dc:description/>
  <dc:language>en-US</dc:language>
  <cp:lastModifiedBy/>
  <dcterms:modified xsi:type="dcterms:W3CDTF">2026-03-23T17:34:41Z</dcterms:modified>
  <cp:revision>351</cp:revision>
  <dc:subject/>
  <dc:title>PowerPoint 簡報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16</vt:i4>
  </property>
</Properties>
</file>